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this slide while people settle. The whole demo builds one small app, a caffeine tracker, in four parts; this first part writes no code at all. The point to land early: the output of this part is files in a repo and a design canvas, not a chat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a caffeine tracker: log what you drink, get a reminder when you have gone too long without caffeine during work hours. Small enough to finish, real enough to have time zones, a daily limit and a calendar. Mention the tags once: if a live step fails, check out the previous tag and carry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one sentence out loud, as a user would. The audience should feel how little is specified, so the questions Claude asks back on the next slide land as the first thing worth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dry run the first answers back were about hosting cost, whether reminders should work with the tab closed, and which drinks count. Answer as yourself; the answers shape the rest of the part. If plan mode is not already on, switch it on before sending the prompt so the audience sees the plan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file pane open beside the chat so the audience sees the document grow as the session works, rather than reading it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constraint as a user would: it is a personal tool, it should cost nothing. Then watch the container, the API and the database come off the canvas and out of the decisions table at the same time. The accepted trade-off gets written down too: no reminders when the tab is closed or the laptop is asleep.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canvas in the browser pane here and scroll it rather than describing it. The coffee cup board is the crowd-pleaser; the storage-interface board is the one engineers ask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row and ask the room which alternative they would have taken. The store interface row is the one that pays off in Part 3, where two stores run the same contract tests, and in any future where the data moves to 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file and scroll it; it is short, which is the point. The “every figure needs a source” rule is a good example of a constraint a human would forget to repeat and a session would otherwise happily skip.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tag. The audience should leave knowing that every part is recoverable, which is what makes a live demo of this length safe to attempt.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1741185"/>
            <a:ext cx="7721581"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BUILDING WITH CLAUDE CODE · CAFFEINE TRACKER</a:t>
            </a:r>
            <a:endParaRPr lang="en-US" sz="1200" dirty="0"/>
          </a:p>
        </p:txBody>
      </p:sp>
      <p:sp>
        <p:nvSpPr>
          <p:cNvPr id="3" name="Text 1"/>
          <p:cNvSpPr/>
          <p:nvPr/>
        </p:nvSpPr>
        <p:spPr>
          <a:xfrm>
            <a:off x="812798" y="2141234"/>
            <a:ext cx="7721581" cy="1600196"/>
          </a:xfrm>
          <a:prstGeom prst="rect">
            <a:avLst/>
          </a:prstGeom>
          <a:noFill/>
          <a:ln/>
        </p:spPr>
        <p:txBody>
          <a:bodyPr wrap="square" lIns="0" tIns="0" rIns="0" bIns="0" rtlCol="0" anchor="t"/>
          <a:lstStyle/>
          <a:p>
            <a:pPr algn="l" indent="0" marL="0">
              <a:lnSpc>
                <a:spcPts val="6300"/>
              </a:lnSpc>
              <a:buNone/>
            </a:pPr>
            <a:r>
              <a:rPr lang="en-US" sz="6000" b="1" dirty="0">
                <a:solidFill>
                  <a:srgbClr val="F4F6F1"/>
                </a:solidFill>
                <a:latin typeface="JetBrains Mono" pitchFamily="34" charset="0"/>
                <a:ea typeface="JetBrains Mono" pitchFamily="34" charset="-122"/>
                <a:cs typeface="JetBrains Mono" pitchFamily="34" charset="-120"/>
              </a:rPr>
              <a:t>Part 1</a:t>
            </a:r>
            <a:endParaRPr lang="en-US" sz="6000" dirty="0"/>
          </a:p>
          <a:p>
            <a:pPr algn="l" indent="0" marL="0">
              <a:lnSpc>
                <a:spcPts val="6300"/>
              </a:lnSpc>
              <a:buNone/>
            </a:pPr>
            <a:r>
              <a:rPr lang="en-US" sz="6000" b="1" dirty="0">
                <a:solidFill>
                  <a:srgbClr val="F4F6F1"/>
                </a:solidFill>
                <a:latin typeface="JetBrains Mono" pitchFamily="34" charset="0"/>
                <a:ea typeface="JetBrains Mono" pitchFamily="34" charset="-122"/>
                <a:cs typeface="JetBrains Mono" pitchFamily="34" charset="-120"/>
              </a:rPr>
              <a:t>Architecture</a:t>
            </a:r>
            <a:endParaRPr lang="en-US" sz="6000" dirty="0"/>
          </a:p>
        </p:txBody>
      </p:sp>
      <p:sp>
        <p:nvSpPr>
          <p:cNvPr id="4" name="Text 2"/>
          <p:cNvSpPr/>
          <p:nvPr/>
        </p:nvSpPr>
        <p:spPr>
          <a:xfrm>
            <a:off x="812798" y="3944630"/>
            <a:ext cx="7721581" cy="568919"/>
          </a:xfrm>
          <a:prstGeom prst="rect">
            <a:avLst/>
          </a:prstGeom>
          <a:noFill/>
          <a:ln/>
        </p:spPr>
        <p:txBody>
          <a:bodyPr wrap="square" lIns="0" tIns="0" rIns="0" bIns="0" rtlCol="0" anchor="t"/>
          <a:lstStyle/>
          <a:p>
            <a:pPr algn="l" indent="0" marL="0">
              <a:lnSpc>
                <a:spcPts val="2240"/>
              </a:lnSpc>
              <a:buNone/>
            </a:pPr>
            <a:r>
              <a:rPr lang="en-US" sz="1600" dirty="0">
                <a:solidFill>
                  <a:srgbClr val="A9C9B3"/>
                </a:solidFill>
                <a:latin typeface="IBM Plex Sans" pitchFamily="34" charset="0"/>
                <a:ea typeface="IBM Plex Sans" pitchFamily="34" charset="-122"/>
                <a:cs typeface="IBM Plex Sans" pitchFamily="34" charset="-120"/>
              </a:rPr>
              <a:t>One sentence of intent becomes a design the build can follow, with no handoff document between the two.</a:t>
            </a:r>
            <a:endParaRPr lang="en-US" sz="1600" dirty="0"/>
          </a:p>
        </p:txBody>
      </p:sp>
      <p:sp>
        <p:nvSpPr>
          <p:cNvPr id="5" name="Text 3"/>
          <p:cNvSpPr/>
          <p:nvPr/>
        </p:nvSpPr>
        <p:spPr>
          <a:xfrm>
            <a:off x="812798" y="4716748"/>
            <a:ext cx="7721581"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about 10 minutes · tag part-1-architecture</a:t>
            </a:r>
            <a:endParaRPr lang="en-US" sz="1200" dirty="0"/>
          </a:p>
        </p:txBody>
      </p:sp>
      <p:sp>
        <p:nvSpPr>
          <p:cNvPr id="6" name="Shape 4"/>
          <p:cNvSpPr/>
          <p:nvPr/>
        </p:nvSpPr>
        <p:spPr>
          <a:xfrm>
            <a:off x="9474176" y="2613018"/>
            <a:ext cx="1142997" cy="1428746"/>
          </a:xfrm>
          <a:prstGeom prst="rect">
            <a:avLst/>
          </a:prstGeom>
          <a:ln w="95250">
            <a:solidFill>
              <a:srgbClr val="39FF88"/>
            </a:solidFill>
            <a:prstDash val="solid"/>
          </a:ln>
        </p:spPr>
      </p:sp>
      <p:sp>
        <p:nvSpPr>
          <p:cNvPr id="7" name="Shape 5"/>
          <p:cNvSpPr/>
          <p:nvPr/>
        </p:nvSpPr>
        <p:spPr>
          <a:xfrm>
            <a:off x="10617173" y="2994018"/>
            <a:ext cx="457199" cy="666748"/>
          </a:xfrm>
          <a:prstGeom prst="rect">
            <a:avLst/>
          </a:prstGeom>
          <a:ln w="95250">
            <a:solidFill>
              <a:srgbClr val="39FF88"/>
            </a:solidFill>
            <a:prstDash val="solid"/>
          </a:ln>
        </p:spPr>
      </p:sp>
      <p:sp>
        <p:nvSpPr>
          <p:cNvPr id="8" name="Shape 6"/>
          <p:cNvSpPr/>
          <p:nvPr/>
        </p:nvSpPr>
        <p:spPr>
          <a:xfrm>
            <a:off x="9569426" y="3375017"/>
            <a:ext cx="952498" cy="571499"/>
          </a:xfrm>
          <a:prstGeom prst="rect">
            <a:avLst/>
          </a:prstGeom>
          <a:solidFill>
            <a:srgbClr val="39FF88">
              <a:alpha val="90000"/>
            </a:srgbClr>
          </a:solidFill>
          <a:ln/>
        </p:spPr>
      </p:sp>
      <p:sp>
        <p:nvSpPr>
          <p:cNvPr id="9" name="Shape 7"/>
          <p:cNvSpPr/>
          <p:nvPr/>
        </p:nvSpPr>
        <p:spPr>
          <a:xfrm>
            <a:off x="9283677" y="4156065"/>
            <a:ext cx="1714496" cy="114300"/>
          </a:xfrm>
          <a:prstGeom prst="rect">
            <a:avLst/>
          </a:prstGeom>
          <a:solidFill>
            <a:srgbClr val="24402C"/>
          </a:solidFill>
          <a:ln/>
        </p:spPr>
      </p:sp>
      <p:sp>
        <p:nvSpPr>
          <p:cNvPr id="10" name="Shape 8"/>
          <p:cNvSpPr/>
          <p:nvPr/>
        </p:nvSpPr>
        <p:spPr>
          <a:xfrm>
            <a:off x="9759926" y="2232019"/>
            <a:ext cx="76200" cy="76200"/>
          </a:xfrm>
          <a:prstGeom prst="rect">
            <a:avLst/>
          </a:prstGeom>
          <a:solidFill>
            <a:srgbClr val="86B394"/>
          </a:solidFill>
          <a:ln/>
        </p:spPr>
      </p:sp>
      <p:sp>
        <p:nvSpPr>
          <p:cNvPr id="11" name="Shape 9"/>
          <p:cNvSpPr/>
          <p:nvPr/>
        </p:nvSpPr>
        <p:spPr>
          <a:xfrm>
            <a:off x="9702776" y="2365369"/>
            <a:ext cx="76200" cy="76200"/>
          </a:xfrm>
          <a:prstGeom prst="rect">
            <a:avLst/>
          </a:prstGeom>
          <a:solidFill>
            <a:srgbClr val="86B394"/>
          </a:solidFill>
          <a:ln/>
        </p:spPr>
      </p:sp>
      <p:sp>
        <p:nvSpPr>
          <p:cNvPr id="12" name="Shape 10"/>
          <p:cNvSpPr/>
          <p:nvPr/>
        </p:nvSpPr>
        <p:spPr>
          <a:xfrm>
            <a:off x="10140925" y="2193920"/>
            <a:ext cx="76200" cy="76200"/>
          </a:xfrm>
          <a:prstGeom prst="rect">
            <a:avLst/>
          </a:prstGeom>
          <a:solidFill>
            <a:srgbClr val="86B394"/>
          </a:solidFill>
          <a:ln/>
        </p:spPr>
      </p:sp>
      <p:sp>
        <p:nvSpPr>
          <p:cNvPr id="13" name="Shape 11"/>
          <p:cNvSpPr/>
          <p:nvPr/>
        </p:nvSpPr>
        <p:spPr>
          <a:xfrm>
            <a:off x="10198075" y="2327269"/>
            <a:ext cx="76200" cy="76200"/>
          </a:xfrm>
          <a:prstGeom prst="rect">
            <a:avLst/>
          </a:prstGeom>
          <a:solidFill>
            <a:srgbClr val="86B394"/>
          </a:solidFill>
          <a:ln/>
        </p:spPr>
      </p:sp>
      <p:sp>
        <p:nvSpPr>
          <p:cNvPr id="14" name="Text 12"/>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 part 1 of 4 · architecture → app → tests → production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THE FOUR PARTS</a:t>
            </a:r>
            <a:endParaRPr lang="en-US" sz="1200" dirty="0"/>
          </a:p>
        </p:txBody>
      </p:sp>
      <p:sp>
        <p:nvSpPr>
          <p:cNvPr id="3" name="Text 1"/>
          <p:cNvSpPr/>
          <p:nvPr/>
        </p:nvSpPr>
        <p:spPr>
          <a:xfrm>
            <a:off x="812798" y="13144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One app, four sittings</a:t>
            </a:r>
            <a:endParaRPr lang="en-US" sz="3600" dirty="0"/>
          </a:p>
        </p:txBody>
      </p:sp>
      <p:sp>
        <p:nvSpPr>
          <p:cNvPr id="4" name="Text 2"/>
          <p:cNvSpPr/>
          <p:nvPr/>
        </p:nvSpPr>
        <p:spPr>
          <a:xfrm>
            <a:off x="812798" y="2122085"/>
            <a:ext cx="10617173" cy="284459"/>
          </a:xfrm>
          <a:prstGeom prst="rect">
            <a:avLst/>
          </a:prstGeom>
          <a:noFill/>
          <a:ln/>
        </p:spPr>
        <p:txBody>
          <a:bodyPr wrap="square" lIns="0" tIns="0" rIns="0" bIns="0" rtlCol="0" anchor="t"/>
          <a:lstStyle/>
          <a:p>
            <a:pPr algn="l" indent="0" marL="0">
              <a:lnSpc>
                <a:spcPts val="2240"/>
              </a:lnSpc>
              <a:buNone/>
            </a:pPr>
            <a:r>
              <a:rPr lang="en-US" sz="1600" dirty="0">
                <a:solidFill>
                  <a:srgbClr val="A9C9B3"/>
                </a:solidFill>
                <a:latin typeface="IBM Plex Sans" pitchFamily="34" charset="0"/>
                <a:ea typeface="IBM Plex Sans" pitchFamily="34" charset="-122"/>
                <a:cs typeface="IBM Plex Sans" pitchFamily="34" charset="-120"/>
              </a:rPr>
              <a:t>Each part ends with something on screen and a git tag, so any part can be shown on its own or recovered mid-demo.</a:t>
            </a:r>
            <a:endParaRPr lang="en-US" sz="1600" dirty="0"/>
          </a:p>
        </p:txBody>
      </p:sp>
      <p:sp>
        <p:nvSpPr>
          <p:cNvPr id="5" name="Shape 3"/>
          <p:cNvSpPr/>
          <p:nvPr/>
        </p:nvSpPr>
        <p:spPr>
          <a:xfrm>
            <a:off x="812798" y="2711344"/>
            <a:ext cx="2498719" cy="2183005"/>
          </a:xfrm>
          <a:prstGeom prst="roundRect">
            <a:avLst>
              <a:gd name="adj" fmla="val 3491"/>
            </a:avLst>
          </a:prstGeom>
          <a:solidFill>
            <a:srgbClr val="16201A"/>
          </a:solidFill>
          <a:ln w="12700">
            <a:solidFill>
              <a:srgbClr val="39FF88"/>
            </a:solidFill>
            <a:prstDash val="solid"/>
          </a:ln>
        </p:spPr>
      </p:sp>
      <p:sp>
        <p:nvSpPr>
          <p:cNvPr id="6" name="Text 4"/>
          <p:cNvSpPr/>
          <p:nvPr/>
        </p:nvSpPr>
        <p:spPr>
          <a:xfrm>
            <a:off x="1054097" y="295264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39FF88"/>
                </a:solidFill>
                <a:latin typeface="JetBrains Mono" pitchFamily="34" charset="0"/>
                <a:ea typeface="JetBrains Mono" pitchFamily="34" charset="-122"/>
                <a:cs typeface="JetBrains Mono" pitchFamily="34" charset="-120"/>
              </a:rPr>
              <a:t>01</a:t>
            </a:r>
            <a:endParaRPr lang="en-US" sz="2200" dirty="0"/>
          </a:p>
        </p:txBody>
      </p:sp>
      <p:sp>
        <p:nvSpPr>
          <p:cNvPr id="7" name="Text 5"/>
          <p:cNvSpPr/>
          <p:nvPr/>
        </p:nvSpPr>
        <p:spPr>
          <a:xfrm>
            <a:off x="1054097" y="339714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Architecture</a:t>
            </a:r>
            <a:endParaRPr lang="en-US" sz="1600" dirty="0"/>
          </a:p>
        </p:txBody>
      </p:sp>
      <p:sp>
        <p:nvSpPr>
          <p:cNvPr id="8" name="Text 6"/>
          <p:cNvSpPr/>
          <p:nvPr/>
        </p:nvSpPr>
        <p:spPr>
          <a:xfrm>
            <a:off x="1054097" y="3740041"/>
            <a:ext cx="2066920"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Requirements, decisions, a diagram and a design canvas. No code.</a:t>
            </a:r>
            <a:endParaRPr lang="en-US" sz="1200" dirty="0"/>
          </a:p>
        </p:txBody>
      </p:sp>
      <p:sp>
        <p:nvSpPr>
          <p:cNvPr id="9" name="Text 7"/>
          <p:cNvSpPr/>
          <p:nvPr/>
        </p:nvSpPr>
        <p:spPr>
          <a:xfrm>
            <a:off x="1054097" y="4456201"/>
            <a:ext cx="2066920" cy="196850"/>
          </a:xfrm>
          <a:prstGeom prst="rect">
            <a:avLst/>
          </a:prstGeom>
          <a:noFill/>
          <a:ln/>
        </p:spPr>
        <p:txBody>
          <a:bodyPr wrap="square" lIns="0" tIns="0" rIns="0" bIns="0" rtlCol="0" anchor="t"/>
          <a:lstStyle/>
          <a:p>
            <a:pPr algn="l" indent="0" marL="0">
              <a:lnSpc>
                <a:spcPts val="1440"/>
              </a:lnSpc>
              <a:buNone/>
            </a:pPr>
            <a:r>
              <a:rPr lang="en-US" sz="1200" dirty="0">
                <a:solidFill>
                  <a:srgbClr val="39FF88"/>
                </a:solidFill>
                <a:latin typeface="JetBrains Mono" pitchFamily="34" charset="0"/>
                <a:ea typeface="JetBrains Mono" pitchFamily="34" charset="-122"/>
                <a:cs typeface="JetBrains Mono" pitchFamily="34" charset="-120"/>
              </a:rPr>
              <a:t>you are here</a:t>
            </a:r>
            <a:endParaRPr lang="en-US" sz="1200" dirty="0"/>
          </a:p>
        </p:txBody>
      </p:sp>
      <p:sp>
        <p:nvSpPr>
          <p:cNvPr id="10" name="Shape 8"/>
          <p:cNvSpPr/>
          <p:nvPr/>
        </p:nvSpPr>
        <p:spPr>
          <a:xfrm>
            <a:off x="3514716" y="2711344"/>
            <a:ext cx="2486019" cy="2183005"/>
          </a:xfrm>
          <a:prstGeom prst="roundRect">
            <a:avLst>
              <a:gd name="adj" fmla="val 3491"/>
            </a:avLst>
          </a:prstGeom>
          <a:solidFill>
            <a:srgbClr val="111812"/>
          </a:solidFill>
          <a:ln w="9525">
            <a:solidFill>
              <a:srgbClr val="24402C"/>
            </a:solidFill>
            <a:prstDash val="solid"/>
          </a:ln>
        </p:spPr>
      </p:sp>
      <p:sp>
        <p:nvSpPr>
          <p:cNvPr id="11" name="Text 9"/>
          <p:cNvSpPr/>
          <p:nvPr/>
        </p:nvSpPr>
        <p:spPr>
          <a:xfrm>
            <a:off x="3749666" y="294629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86B394"/>
                </a:solidFill>
                <a:latin typeface="JetBrains Mono" pitchFamily="34" charset="0"/>
                <a:ea typeface="JetBrains Mono" pitchFamily="34" charset="-122"/>
                <a:cs typeface="JetBrains Mono" pitchFamily="34" charset="-120"/>
              </a:rPr>
              <a:t>02</a:t>
            </a:r>
            <a:endParaRPr lang="en-US" sz="2200" dirty="0"/>
          </a:p>
        </p:txBody>
      </p:sp>
      <p:sp>
        <p:nvSpPr>
          <p:cNvPr id="12" name="Text 10"/>
          <p:cNvSpPr/>
          <p:nvPr/>
        </p:nvSpPr>
        <p:spPr>
          <a:xfrm>
            <a:off x="3749666" y="339079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App building</a:t>
            </a:r>
            <a:endParaRPr lang="en-US" sz="1600" dirty="0"/>
          </a:p>
        </p:txBody>
      </p:sp>
      <p:sp>
        <p:nvSpPr>
          <p:cNvPr id="13" name="Text 11"/>
          <p:cNvSpPr/>
          <p:nvPr/>
        </p:nvSpPr>
        <p:spPr>
          <a:xfrm>
            <a:off x="3749666" y="3733691"/>
            <a:ext cx="2066920"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The design becomes a running app, checked in the browser.</a:t>
            </a:r>
            <a:endParaRPr lang="en-US" sz="1200" dirty="0"/>
          </a:p>
        </p:txBody>
      </p:sp>
      <p:sp>
        <p:nvSpPr>
          <p:cNvPr id="14" name="Shape 12"/>
          <p:cNvSpPr/>
          <p:nvPr/>
        </p:nvSpPr>
        <p:spPr>
          <a:xfrm>
            <a:off x="6203934" y="2711344"/>
            <a:ext cx="2486019" cy="2183005"/>
          </a:xfrm>
          <a:prstGeom prst="roundRect">
            <a:avLst>
              <a:gd name="adj" fmla="val 3491"/>
            </a:avLst>
          </a:prstGeom>
          <a:solidFill>
            <a:srgbClr val="111812"/>
          </a:solidFill>
          <a:ln w="9525">
            <a:solidFill>
              <a:srgbClr val="24402C"/>
            </a:solidFill>
            <a:prstDash val="solid"/>
          </a:ln>
        </p:spPr>
      </p:sp>
      <p:sp>
        <p:nvSpPr>
          <p:cNvPr id="15" name="Text 13"/>
          <p:cNvSpPr/>
          <p:nvPr/>
        </p:nvSpPr>
        <p:spPr>
          <a:xfrm>
            <a:off x="6438884" y="294629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86B394"/>
                </a:solidFill>
                <a:latin typeface="JetBrains Mono" pitchFamily="34" charset="0"/>
                <a:ea typeface="JetBrains Mono" pitchFamily="34" charset="-122"/>
                <a:cs typeface="JetBrains Mono" pitchFamily="34" charset="-120"/>
              </a:rPr>
              <a:t>03</a:t>
            </a:r>
            <a:endParaRPr lang="en-US" sz="2200" dirty="0"/>
          </a:p>
        </p:txBody>
      </p:sp>
      <p:sp>
        <p:nvSpPr>
          <p:cNvPr id="16" name="Text 14"/>
          <p:cNvSpPr/>
          <p:nvPr/>
        </p:nvSpPr>
        <p:spPr>
          <a:xfrm>
            <a:off x="6438884" y="339079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Testing</a:t>
            </a:r>
            <a:endParaRPr lang="en-US" sz="1600" dirty="0"/>
          </a:p>
        </p:txBody>
      </p:sp>
      <p:sp>
        <p:nvSpPr>
          <p:cNvPr id="17" name="Text 15"/>
          <p:cNvSpPr/>
          <p:nvPr/>
        </p:nvSpPr>
        <p:spPr>
          <a:xfrm>
            <a:off x="6438884" y="3733691"/>
            <a:ext cx="2066920"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Unit and end-to-end tests, then a planted bug gets caught.</a:t>
            </a:r>
            <a:endParaRPr lang="en-US" sz="1200" dirty="0"/>
          </a:p>
        </p:txBody>
      </p:sp>
      <p:sp>
        <p:nvSpPr>
          <p:cNvPr id="18" name="Shape 16"/>
          <p:cNvSpPr/>
          <p:nvPr/>
        </p:nvSpPr>
        <p:spPr>
          <a:xfrm>
            <a:off x="8893153" y="2711344"/>
            <a:ext cx="2486019" cy="2183005"/>
          </a:xfrm>
          <a:prstGeom prst="roundRect">
            <a:avLst>
              <a:gd name="adj" fmla="val 3491"/>
            </a:avLst>
          </a:prstGeom>
          <a:solidFill>
            <a:srgbClr val="111812"/>
          </a:solidFill>
          <a:ln w="9525">
            <a:solidFill>
              <a:srgbClr val="24402C"/>
            </a:solidFill>
            <a:prstDash val="solid"/>
          </a:ln>
        </p:spPr>
      </p:sp>
      <p:sp>
        <p:nvSpPr>
          <p:cNvPr id="19" name="Text 17"/>
          <p:cNvSpPr/>
          <p:nvPr/>
        </p:nvSpPr>
        <p:spPr>
          <a:xfrm>
            <a:off x="9128102" y="294629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86B394"/>
                </a:solidFill>
                <a:latin typeface="JetBrains Mono" pitchFamily="34" charset="0"/>
                <a:ea typeface="JetBrains Mono" pitchFamily="34" charset="-122"/>
                <a:cs typeface="JetBrains Mono" pitchFamily="34" charset="-120"/>
              </a:rPr>
              <a:t>04</a:t>
            </a:r>
            <a:endParaRPr lang="en-US" sz="2200" dirty="0"/>
          </a:p>
        </p:txBody>
      </p:sp>
      <p:sp>
        <p:nvSpPr>
          <p:cNvPr id="20" name="Text 18"/>
          <p:cNvSpPr/>
          <p:nvPr/>
        </p:nvSpPr>
        <p:spPr>
          <a:xfrm>
            <a:off x="9128102" y="339079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Production</a:t>
            </a:r>
            <a:endParaRPr lang="en-US" sz="1600" dirty="0"/>
          </a:p>
        </p:txBody>
      </p:sp>
      <p:sp>
        <p:nvSpPr>
          <p:cNvPr id="21" name="Text 19"/>
          <p:cNvSpPr/>
          <p:nvPr/>
        </p:nvSpPr>
        <p:spPr>
          <a:xfrm>
            <a:off x="9128102" y="3733691"/>
            <a:ext cx="2066920"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CI, security headers, a review, and a live address.</a:t>
            </a:r>
            <a:endParaRPr lang="en-US" sz="1200" dirty="0"/>
          </a:p>
        </p:txBody>
      </p:sp>
      <p:sp>
        <p:nvSpPr>
          <p:cNvPr id="22" name="Text 20"/>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1 · architecture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7A3D"/>
        </a:solidFill>
      </p:bgPr>
    </p:bg>
    <p:spTree>
      <p:nvGrpSpPr>
        <p:cNvPr id="1" name=""/>
        <p:cNvGrpSpPr/>
        <p:nvPr/>
      </p:nvGrpSpPr>
      <p:grpSpPr>
        <a:xfrm>
          <a:off x="0" y="0"/>
          <a:ext cx="0" cy="0"/>
          <a:chOff x="0" y="0"/>
          <a:chExt cx="0" cy="0"/>
        </a:xfrm>
      </p:grpSpPr>
      <p:sp>
        <p:nvSpPr>
          <p:cNvPr id="2" name="Text 0"/>
          <p:cNvSpPr/>
          <p:nvPr/>
        </p:nvSpPr>
        <p:spPr>
          <a:xfrm>
            <a:off x="812798" y="2025050"/>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D7F5DD"/>
                </a:solidFill>
                <a:latin typeface="JetBrains Mono" pitchFamily="34" charset="0"/>
                <a:ea typeface="JetBrains Mono" pitchFamily="34" charset="-122"/>
                <a:cs typeface="JetBrains Mono" pitchFamily="34" charset="-120"/>
              </a:rPr>
              <a:t>// THE GOAL OF PART 1</a:t>
            </a:r>
            <a:endParaRPr lang="en-US" sz="1200" dirty="0"/>
          </a:p>
        </p:txBody>
      </p:sp>
      <p:sp>
        <p:nvSpPr>
          <p:cNvPr id="3" name="Text 1"/>
          <p:cNvSpPr/>
          <p:nvPr/>
        </p:nvSpPr>
        <p:spPr>
          <a:xfrm>
            <a:off x="812798" y="2526698"/>
            <a:ext cx="10617173" cy="1229317"/>
          </a:xfrm>
          <a:prstGeom prst="rect">
            <a:avLst/>
          </a:prstGeom>
          <a:noFill/>
          <a:ln/>
        </p:spPr>
        <p:txBody>
          <a:bodyPr wrap="square" lIns="0" tIns="0" rIns="0" bIns="0" rtlCol="0" anchor="t"/>
          <a:lstStyle/>
          <a:p>
            <a:pPr algn="l" indent="0" marL="0">
              <a:lnSpc>
                <a:spcPts val="4840"/>
              </a:lnSpc>
              <a:buNone/>
            </a:pPr>
            <a:r>
              <a:rPr lang="en-US" sz="4400" b="1" dirty="0">
                <a:solidFill>
                  <a:srgbClr val="F4F6F1"/>
                </a:solidFill>
                <a:latin typeface="JetBrains Mono" pitchFamily="34" charset="0"/>
                <a:ea typeface="JetBrains Mono" pitchFamily="34" charset="-122"/>
                <a:cs typeface="JetBrains Mono" pitchFamily="34" charset="-120"/>
              </a:rPr>
              <a:t>Turn one sentence into a design the build can follow.</a:t>
            </a:r>
            <a:endParaRPr lang="en-US" sz="4400" dirty="0"/>
          </a:p>
        </p:txBody>
      </p:sp>
      <p:sp>
        <p:nvSpPr>
          <p:cNvPr id="4" name="Text 2"/>
          <p:cNvSpPr/>
          <p:nvPr/>
        </p:nvSpPr>
        <p:spPr>
          <a:xfrm>
            <a:off x="812798" y="4060815"/>
            <a:ext cx="8940778" cy="568919"/>
          </a:xfrm>
          <a:prstGeom prst="rect">
            <a:avLst/>
          </a:prstGeom>
          <a:noFill/>
          <a:ln/>
        </p:spPr>
        <p:txBody>
          <a:bodyPr wrap="square" lIns="0" tIns="0" rIns="0" bIns="0" rtlCol="0" anchor="t"/>
          <a:lstStyle/>
          <a:p>
            <a:pPr algn="l" indent="0" marL="0">
              <a:lnSpc>
                <a:spcPts val="2240"/>
              </a:lnSpc>
              <a:buNone/>
            </a:pPr>
            <a:r>
              <a:rPr lang="en-US" sz="1600" dirty="0">
                <a:solidFill>
                  <a:srgbClr val="D7F5DD"/>
                </a:solidFill>
                <a:latin typeface="IBM Plex Sans" pitchFamily="34" charset="0"/>
                <a:ea typeface="IBM Plex Sans" pitchFamily="34" charset="-122"/>
                <a:cs typeface="IBM Plex Sans" pitchFamily="34" charset="-120"/>
              </a:rPr>
              <a:t>The sentence: track my caffeine, remind me during work hours. Everything else, from requirements to the storage interface, is decided here, in one session, before a line of code.</a:t>
            </a:r>
            <a:endParaRPr lang="en-US" sz="1600" dirty="0"/>
          </a:p>
        </p:txBody>
      </p:sp>
      <p:sp>
        <p:nvSpPr>
          <p:cNvPr id="5" name="Text 3"/>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D7F5DD"/>
                </a:solidFill>
                <a:latin typeface="JetBrains Mono" pitchFamily="34" charset="0"/>
                <a:ea typeface="JetBrains Mono" pitchFamily="34" charset="-122"/>
                <a:cs typeface="JetBrains Mono" pitchFamily="34" charset="-120"/>
              </a:rPr>
              <a:t>part 1 · architecture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LIVE</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The prompt</a:t>
            </a:r>
            <a:endParaRPr lang="en-US" sz="3600" dirty="0"/>
          </a:p>
        </p:txBody>
      </p:sp>
      <p:sp>
        <p:nvSpPr>
          <p:cNvPr id="4" name="Shape 2"/>
          <p:cNvSpPr/>
          <p:nvPr/>
        </p:nvSpPr>
        <p:spPr>
          <a:xfrm>
            <a:off x="812798" y="2020486"/>
            <a:ext cx="10566374" cy="1944187"/>
          </a:xfrm>
          <a:prstGeom prst="roundRect">
            <a:avLst>
              <a:gd name="adj" fmla="val 3919"/>
            </a:avLst>
          </a:prstGeom>
          <a:solidFill>
            <a:srgbClr val="111812"/>
          </a:solidFill>
          <a:ln w="9525">
            <a:solidFill>
              <a:srgbClr val="24402C"/>
            </a:solidFill>
            <a:prstDash val="solid"/>
          </a:ln>
        </p:spPr>
      </p:sp>
      <p:sp>
        <p:nvSpPr>
          <p:cNvPr id="5" name="Text 3"/>
          <p:cNvSpPr/>
          <p:nvPr/>
        </p:nvSpPr>
        <p:spPr>
          <a:xfrm>
            <a:off x="1123947" y="2331635"/>
            <a:ext cx="9994875" cy="234949"/>
          </a:xfrm>
          <a:prstGeom prst="rect">
            <a:avLst/>
          </a:prstGeom>
          <a:noFill/>
          <a:ln/>
        </p:spPr>
        <p:txBody>
          <a:bodyPr wrap="square" lIns="0" tIns="0" rIns="0" bIns="0" rtlCol="0" anchor="t"/>
          <a:lstStyle/>
          <a:p>
            <a:pPr algn="l" indent="0" marL="0">
              <a:lnSpc>
                <a:spcPts val="1680"/>
              </a:lnSpc>
              <a:buNone/>
            </a:pPr>
            <a:r>
              <a:rPr lang="en-US" sz="1400" dirty="0">
                <a:solidFill>
                  <a:srgbClr val="86B394"/>
                </a:solidFill>
                <a:latin typeface="JetBrains Mono" pitchFamily="34" charset="0"/>
                <a:ea typeface="JetBrains Mono" pitchFamily="34" charset="-122"/>
                <a:cs typeface="JetBrains Mono" pitchFamily="34" charset="-120"/>
              </a:rPr>
              <a:t>~$ claude</a:t>
            </a:r>
            <a:endParaRPr lang="en-US" sz="1400" dirty="0"/>
          </a:p>
        </p:txBody>
      </p:sp>
      <p:sp>
        <p:nvSpPr>
          <p:cNvPr id="6" name="Text 4"/>
          <p:cNvSpPr/>
          <p:nvPr/>
        </p:nvSpPr>
        <p:spPr>
          <a:xfrm>
            <a:off x="1123947" y="2693584"/>
            <a:ext cx="9994875" cy="959939"/>
          </a:xfrm>
          <a:prstGeom prst="rect">
            <a:avLst/>
          </a:prstGeom>
          <a:noFill/>
          <a:ln/>
        </p:spPr>
        <p:txBody>
          <a:bodyPr wrap="square" lIns="0" tIns="0" rIns="0" bIns="0" rtlCol="0" anchor="t"/>
          <a:lstStyle/>
          <a:p>
            <a:pPr algn="l" indent="0" marL="0">
              <a:lnSpc>
                <a:spcPts val="2520"/>
              </a:lnSpc>
              <a:buNone/>
            </a:pPr>
            <a:r>
              <a:rPr lang="en-US" sz="1800" dirty="0">
                <a:solidFill>
                  <a:srgbClr val="D7F5DD"/>
                </a:solidFill>
                <a:latin typeface="JetBrains Mono" pitchFamily="34" charset="0"/>
                <a:ea typeface="JetBrains Mono" pitchFamily="34" charset="-122"/>
                <a:cs typeface="JetBrains Mono" pitchFamily="34" charset="-120"/>
              </a:rPr>
              <a:t>&gt; I want an app that tracks my caffeine intake and reminds me if I haven’t had caffeine during my work hours. Help me design it before we write any code.</a:t>
            </a:r>
            <a:endParaRPr lang="en-US" sz="1800" dirty="0"/>
          </a:p>
        </p:txBody>
      </p:sp>
      <p:sp>
        <p:nvSpPr>
          <p:cNvPr id="7" name="Shape 5"/>
          <p:cNvSpPr/>
          <p:nvPr/>
        </p:nvSpPr>
        <p:spPr>
          <a:xfrm>
            <a:off x="812798" y="4218671"/>
            <a:ext cx="3386625" cy="1344808"/>
          </a:xfrm>
          <a:prstGeom prst="roundRect">
            <a:avLst>
              <a:gd name="adj" fmla="val 5666"/>
            </a:avLst>
          </a:prstGeom>
          <a:solidFill>
            <a:srgbClr val="16201A"/>
          </a:solidFill>
          <a:ln w="9525">
            <a:solidFill>
              <a:srgbClr val="24402C"/>
            </a:solidFill>
            <a:prstDash val="solid"/>
          </a:ln>
        </p:spPr>
      </p:sp>
      <p:sp>
        <p:nvSpPr>
          <p:cNvPr id="8" name="Text 6"/>
          <p:cNvSpPr/>
          <p:nvPr/>
        </p:nvSpPr>
        <p:spPr>
          <a:xfrm>
            <a:off x="1022347" y="4428221"/>
            <a:ext cx="3018326"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Say it, don’t spec it</a:t>
            </a:r>
            <a:endParaRPr lang="en-US" sz="1400" dirty="0"/>
          </a:p>
        </p:txBody>
      </p:sp>
      <p:sp>
        <p:nvSpPr>
          <p:cNvPr id="9" name="Text 7"/>
          <p:cNvSpPr/>
          <p:nvPr/>
        </p:nvSpPr>
        <p:spPr>
          <a:xfrm>
            <a:off x="1022347" y="4713970"/>
            <a:ext cx="3018326"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The gaps are the point. Watch what gets asked back, and what gets assumed and stated instead.</a:t>
            </a:r>
            <a:endParaRPr lang="en-US" sz="1200" dirty="0"/>
          </a:p>
        </p:txBody>
      </p:sp>
      <p:sp>
        <p:nvSpPr>
          <p:cNvPr id="10" name="Shape 8"/>
          <p:cNvSpPr/>
          <p:nvPr/>
        </p:nvSpPr>
        <p:spPr>
          <a:xfrm>
            <a:off x="4402623" y="4218671"/>
            <a:ext cx="3386724" cy="1344808"/>
          </a:xfrm>
          <a:prstGeom prst="roundRect">
            <a:avLst>
              <a:gd name="adj" fmla="val 5666"/>
            </a:avLst>
          </a:prstGeom>
          <a:solidFill>
            <a:srgbClr val="16201A"/>
          </a:solidFill>
          <a:ln w="9525">
            <a:solidFill>
              <a:srgbClr val="24402C"/>
            </a:solidFill>
            <a:prstDash val="solid"/>
          </a:ln>
        </p:spPr>
      </p:sp>
      <p:sp>
        <p:nvSpPr>
          <p:cNvPr id="11" name="Text 9"/>
          <p:cNvSpPr/>
          <p:nvPr/>
        </p:nvSpPr>
        <p:spPr>
          <a:xfrm>
            <a:off x="4612172" y="4428221"/>
            <a:ext cx="3018425"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Plan mode first</a:t>
            </a:r>
            <a:endParaRPr lang="en-US" sz="1400" dirty="0"/>
          </a:p>
        </p:txBody>
      </p:sp>
      <p:sp>
        <p:nvSpPr>
          <p:cNvPr id="12" name="Text 10"/>
          <p:cNvSpPr/>
          <p:nvPr/>
        </p:nvSpPr>
        <p:spPr>
          <a:xfrm>
            <a:off x="4612172" y="4713970"/>
            <a:ext cx="3018425"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Nothing is written until the plan is reviewed. Read it together before approving.</a:t>
            </a:r>
            <a:endParaRPr lang="en-US" sz="1200" dirty="0"/>
          </a:p>
        </p:txBody>
      </p:sp>
      <p:sp>
        <p:nvSpPr>
          <p:cNvPr id="13" name="Shape 11"/>
          <p:cNvSpPr/>
          <p:nvPr/>
        </p:nvSpPr>
        <p:spPr>
          <a:xfrm>
            <a:off x="7992546" y="4218671"/>
            <a:ext cx="3386625" cy="1344808"/>
          </a:xfrm>
          <a:prstGeom prst="roundRect">
            <a:avLst>
              <a:gd name="adj" fmla="val 5666"/>
            </a:avLst>
          </a:prstGeom>
          <a:solidFill>
            <a:srgbClr val="16201A"/>
          </a:solidFill>
          <a:ln w="9525">
            <a:solidFill>
              <a:srgbClr val="24402C"/>
            </a:solidFill>
            <a:prstDash val="solid"/>
          </a:ln>
        </p:spPr>
      </p:sp>
      <p:sp>
        <p:nvSpPr>
          <p:cNvPr id="14" name="Text 12"/>
          <p:cNvSpPr/>
          <p:nvPr/>
        </p:nvSpPr>
        <p:spPr>
          <a:xfrm>
            <a:off x="8202096" y="4428221"/>
            <a:ext cx="3018326"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The output is a file</a:t>
            </a:r>
            <a:endParaRPr lang="en-US" sz="1400" dirty="0"/>
          </a:p>
        </p:txBody>
      </p:sp>
      <p:sp>
        <p:nvSpPr>
          <p:cNvPr id="15" name="Text 13"/>
          <p:cNvSpPr/>
          <p:nvPr/>
        </p:nvSpPr>
        <p:spPr>
          <a:xfrm>
            <a:off x="8202096" y="4713970"/>
            <a:ext cx="3018326"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The design lands in the repo’s docs folder, not in the chat. Open it in the file pane.</a:t>
            </a:r>
            <a:endParaRPr lang="en-US" sz="1200" dirty="0"/>
          </a:p>
        </p:txBody>
      </p:sp>
      <p:sp>
        <p:nvSpPr>
          <p:cNvPr id="16" name="Text 14"/>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1 · architecture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WHAT TO WATCH FOR</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Four things worth pointing at</a:t>
            </a:r>
            <a:endParaRPr lang="en-US" sz="3600" dirty="0"/>
          </a:p>
        </p:txBody>
      </p:sp>
      <p:sp>
        <p:nvSpPr>
          <p:cNvPr id="4" name="Shape 2"/>
          <p:cNvSpPr/>
          <p:nvPr/>
        </p:nvSpPr>
        <p:spPr>
          <a:xfrm>
            <a:off x="812798" y="2020486"/>
            <a:ext cx="5181587" cy="1655957"/>
          </a:xfrm>
          <a:prstGeom prst="roundRect">
            <a:avLst>
              <a:gd name="adj" fmla="val 4602"/>
            </a:avLst>
          </a:prstGeom>
          <a:solidFill>
            <a:srgbClr val="111812"/>
          </a:solidFill>
          <a:ln w="9525">
            <a:solidFill>
              <a:srgbClr val="24402C"/>
            </a:solidFill>
            <a:prstDash val="solid"/>
          </a:ln>
        </p:spPr>
      </p:sp>
      <p:sp>
        <p:nvSpPr>
          <p:cNvPr id="5" name="Shape 3"/>
          <p:cNvSpPr/>
          <p:nvPr/>
        </p:nvSpPr>
        <p:spPr>
          <a:xfrm>
            <a:off x="1047747" y="2331635"/>
            <a:ext cx="152400" cy="152400"/>
          </a:xfrm>
          <a:prstGeom prst="roundRect">
            <a:avLst>
              <a:gd name="adj" fmla="val 25000"/>
            </a:avLst>
          </a:prstGeom>
          <a:solidFill>
            <a:srgbClr val="39FF88"/>
          </a:solidFill>
          <a:ln/>
        </p:spPr>
      </p:sp>
      <p:sp>
        <p:nvSpPr>
          <p:cNvPr id="6" name="Text 4"/>
          <p:cNvSpPr/>
          <p:nvPr/>
        </p:nvSpPr>
        <p:spPr>
          <a:xfrm>
            <a:off x="1047747" y="2636434"/>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It asks before it assumes</a:t>
            </a:r>
            <a:endParaRPr lang="en-US" sz="1600" dirty="0"/>
          </a:p>
        </p:txBody>
      </p:sp>
      <p:sp>
        <p:nvSpPr>
          <p:cNvPr id="7" name="Text 5"/>
          <p:cNvSpPr/>
          <p:nvPr/>
        </p:nvSpPr>
        <p:spPr>
          <a:xfrm>
            <a:off x="1047747" y="2979333"/>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Clarifying questions, or assumptions written down where you can disagree with them. Either is better than a guess.</a:t>
            </a:r>
            <a:endParaRPr lang="en-US" sz="1300" dirty="0"/>
          </a:p>
        </p:txBody>
      </p:sp>
      <p:sp>
        <p:nvSpPr>
          <p:cNvPr id="8" name="Shape 6"/>
          <p:cNvSpPr/>
          <p:nvPr/>
        </p:nvSpPr>
        <p:spPr>
          <a:xfrm>
            <a:off x="6197585" y="2020486"/>
            <a:ext cx="5181587" cy="1655957"/>
          </a:xfrm>
          <a:prstGeom prst="roundRect">
            <a:avLst>
              <a:gd name="adj" fmla="val 4602"/>
            </a:avLst>
          </a:prstGeom>
          <a:solidFill>
            <a:srgbClr val="111812"/>
          </a:solidFill>
          <a:ln w="9525">
            <a:solidFill>
              <a:srgbClr val="24402C"/>
            </a:solidFill>
            <a:prstDash val="solid"/>
          </a:ln>
        </p:spPr>
      </p:sp>
      <p:sp>
        <p:nvSpPr>
          <p:cNvPr id="9" name="Shape 7"/>
          <p:cNvSpPr/>
          <p:nvPr/>
        </p:nvSpPr>
        <p:spPr>
          <a:xfrm>
            <a:off x="6432534" y="2331635"/>
            <a:ext cx="152400" cy="152400"/>
          </a:xfrm>
          <a:prstGeom prst="roundRect">
            <a:avLst>
              <a:gd name="adj" fmla="val 25000"/>
            </a:avLst>
          </a:prstGeom>
          <a:solidFill>
            <a:srgbClr val="39FF88"/>
          </a:solidFill>
          <a:ln/>
        </p:spPr>
      </p:sp>
      <p:sp>
        <p:nvSpPr>
          <p:cNvPr id="10" name="Text 8"/>
          <p:cNvSpPr/>
          <p:nvPr/>
        </p:nvSpPr>
        <p:spPr>
          <a:xfrm>
            <a:off x="6432534" y="2636434"/>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The plan is reviewed first</a:t>
            </a:r>
            <a:endParaRPr lang="en-US" sz="1600" dirty="0"/>
          </a:p>
        </p:txBody>
      </p:sp>
      <p:sp>
        <p:nvSpPr>
          <p:cNvPr id="11" name="Text 9"/>
          <p:cNvSpPr/>
          <p:nvPr/>
        </p:nvSpPr>
        <p:spPr>
          <a:xfrm>
            <a:off x="6432534" y="2979333"/>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Plan mode shows the approach before anything is written. Approve it, or push back, in front of the room.</a:t>
            </a:r>
            <a:endParaRPr lang="en-US" sz="1300" dirty="0"/>
          </a:p>
        </p:txBody>
      </p:sp>
      <p:sp>
        <p:nvSpPr>
          <p:cNvPr id="12" name="Shape 10"/>
          <p:cNvSpPr/>
          <p:nvPr/>
        </p:nvSpPr>
        <p:spPr>
          <a:xfrm>
            <a:off x="812798" y="3879642"/>
            <a:ext cx="5181587" cy="1655957"/>
          </a:xfrm>
          <a:prstGeom prst="roundRect">
            <a:avLst>
              <a:gd name="adj" fmla="val 4602"/>
            </a:avLst>
          </a:prstGeom>
          <a:solidFill>
            <a:srgbClr val="111812"/>
          </a:solidFill>
          <a:ln w="9525">
            <a:solidFill>
              <a:srgbClr val="24402C"/>
            </a:solidFill>
            <a:prstDash val="solid"/>
          </a:ln>
        </p:spPr>
      </p:sp>
      <p:sp>
        <p:nvSpPr>
          <p:cNvPr id="13" name="Shape 11"/>
          <p:cNvSpPr/>
          <p:nvPr/>
        </p:nvSpPr>
        <p:spPr>
          <a:xfrm>
            <a:off x="1047747" y="4190791"/>
            <a:ext cx="152400" cy="152400"/>
          </a:xfrm>
          <a:prstGeom prst="roundRect">
            <a:avLst>
              <a:gd name="adj" fmla="val 25000"/>
            </a:avLst>
          </a:prstGeom>
          <a:solidFill>
            <a:srgbClr val="39FF88"/>
          </a:solidFill>
          <a:ln/>
        </p:spPr>
      </p:sp>
      <p:sp>
        <p:nvSpPr>
          <p:cNvPr id="14" name="Text 12"/>
          <p:cNvSpPr/>
          <p:nvPr/>
        </p:nvSpPr>
        <p:spPr>
          <a:xfrm>
            <a:off x="1047747" y="4495590"/>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The design lives in the repo</a:t>
            </a:r>
            <a:endParaRPr lang="en-US" sz="1600" dirty="0"/>
          </a:p>
        </p:txBody>
      </p:sp>
      <p:sp>
        <p:nvSpPr>
          <p:cNvPr id="15" name="Text 13"/>
          <p:cNvSpPr/>
          <p:nvPr/>
        </p:nvSpPr>
        <p:spPr>
          <a:xfrm>
            <a:off x="1047747" y="4838489"/>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A markdown file with requirements, decisions, a data model and a diagram. Versioned, diffable, reviewable.</a:t>
            </a:r>
            <a:endParaRPr lang="en-US" sz="1300" dirty="0"/>
          </a:p>
        </p:txBody>
      </p:sp>
      <p:sp>
        <p:nvSpPr>
          <p:cNvPr id="16" name="Shape 14"/>
          <p:cNvSpPr/>
          <p:nvPr/>
        </p:nvSpPr>
        <p:spPr>
          <a:xfrm>
            <a:off x="6197585" y="3879642"/>
            <a:ext cx="5181587" cy="1655957"/>
          </a:xfrm>
          <a:prstGeom prst="roundRect">
            <a:avLst>
              <a:gd name="adj" fmla="val 4602"/>
            </a:avLst>
          </a:prstGeom>
          <a:solidFill>
            <a:srgbClr val="111812"/>
          </a:solidFill>
          <a:ln w="9525">
            <a:solidFill>
              <a:srgbClr val="24402C"/>
            </a:solidFill>
            <a:prstDash val="solid"/>
          </a:ln>
        </p:spPr>
      </p:sp>
      <p:sp>
        <p:nvSpPr>
          <p:cNvPr id="17" name="Shape 15"/>
          <p:cNvSpPr/>
          <p:nvPr/>
        </p:nvSpPr>
        <p:spPr>
          <a:xfrm>
            <a:off x="6432534" y="4190791"/>
            <a:ext cx="152400" cy="152400"/>
          </a:xfrm>
          <a:prstGeom prst="roundRect">
            <a:avLst>
              <a:gd name="adj" fmla="val 25000"/>
            </a:avLst>
          </a:prstGeom>
          <a:solidFill>
            <a:srgbClr val="39FF88"/>
          </a:solidFill>
          <a:ln/>
        </p:spPr>
      </p:sp>
      <p:sp>
        <p:nvSpPr>
          <p:cNvPr id="18" name="Text 16"/>
          <p:cNvSpPr/>
          <p:nvPr/>
        </p:nvSpPr>
        <p:spPr>
          <a:xfrm>
            <a:off x="6432534" y="4495590"/>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The same design, as a canvas</a:t>
            </a:r>
            <a:endParaRPr lang="en-US" sz="1600" dirty="0"/>
          </a:p>
        </p:txBody>
      </p:sp>
      <p:sp>
        <p:nvSpPr>
          <p:cNvPr id="19" name="Text 17"/>
          <p:cNvSpPr/>
          <p:nvPr/>
        </p:nvSpPr>
        <p:spPr>
          <a:xfrm>
            <a:off x="6432534" y="4838489"/>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Diagrams and screen mock-ups drawn from the same session. No handoff document between designer and builder.</a:t>
            </a:r>
            <a:endParaRPr lang="en-US" sz="1300" dirty="0"/>
          </a:p>
        </p:txBody>
      </p:sp>
      <p:sp>
        <p:nvSpPr>
          <p:cNvPr id="20" name="Text 18"/>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1 · architecture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THE MOMENT THAT CARRIES THE PART</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Change your mind mid-design</a:t>
            </a:r>
            <a:endParaRPr lang="en-US" sz="3600" dirty="0"/>
          </a:p>
        </p:txBody>
      </p:sp>
      <p:sp>
        <p:nvSpPr>
          <p:cNvPr id="4" name="Shape 2"/>
          <p:cNvSpPr/>
          <p:nvPr/>
        </p:nvSpPr>
        <p:spPr>
          <a:xfrm>
            <a:off x="812798" y="2020486"/>
            <a:ext cx="4692638" cy="2452284"/>
          </a:xfrm>
          <a:prstGeom prst="roundRect">
            <a:avLst>
              <a:gd name="adj" fmla="val 3107"/>
            </a:avLst>
          </a:prstGeom>
          <a:solidFill>
            <a:srgbClr val="111812"/>
          </a:solidFill>
          <a:ln w="9525">
            <a:solidFill>
              <a:srgbClr val="24402C"/>
            </a:solidFill>
            <a:prstDash val="solid"/>
          </a:ln>
        </p:spPr>
      </p:sp>
      <p:sp>
        <p:nvSpPr>
          <p:cNvPr id="5" name="Text 3"/>
          <p:cNvSpPr/>
          <p:nvPr/>
        </p:nvSpPr>
        <p:spPr>
          <a:xfrm>
            <a:off x="1073147" y="2280835"/>
            <a:ext cx="4222739" cy="234949"/>
          </a:xfrm>
          <a:prstGeom prst="rect">
            <a:avLst/>
          </a:prstGeom>
          <a:noFill/>
          <a:ln/>
        </p:spPr>
        <p:txBody>
          <a:bodyPr wrap="square" lIns="0" tIns="0" rIns="0" bIns="0" rtlCol="0" anchor="t"/>
          <a:lstStyle/>
          <a:p>
            <a:pPr algn="l" indent="0" marL="0">
              <a:lnSpc>
                <a:spcPts val="1680"/>
              </a:lnSpc>
              <a:buNone/>
            </a:pPr>
            <a:r>
              <a:rPr lang="en-US" sz="1400" b="1" dirty="0">
                <a:solidFill>
                  <a:srgbClr val="86B394"/>
                </a:solidFill>
                <a:latin typeface="JetBrains Mono" pitchFamily="34" charset="0"/>
                <a:ea typeface="JetBrains Mono" pitchFamily="34" charset="-122"/>
                <a:cs typeface="JetBrains Mono" pitchFamily="34" charset="-120"/>
              </a:rPr>
              <a:t>first draft</a:t>
            </a:r>
            <a:endParaRPr lang="en-US" sz="1400" dirty="0"/>
          </a:p>
        </p:txBody>
      </p:sp>
      <p:sp>
        <p:nvSpPr>
          <p:cNvPr id="6" name="Text 4"/>
          <p:cNvSpPr/>
          <p:nvPr/>
        </p:nvSpPr>
        <p:spPr>
          <a:xfrm>
            <a:off x="1073147" y="2617384"/>
            <a:ext cx="4222739" cy="1066797"/>
          </a:xfrm>
          <a:prstGeom prst="rect">
            <a:avLst/>
          </a:prstGeom>
          <a:noFill/>
          <a:ln/>
        </p:spPr>
        <p:txBody>
          <a:bodyPr wrap="square" lIns="0" tIns="0" rIns="0" bIns="0" rtlCol="0" anchor="t"/>
          <a:lstStyle/>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A container with an API</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A SQLite database behind it</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Web push for reminders</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Something always on, somewhere</a:t>
            </a:r>
            <a:endParaRPr lang="en-US" sz="1400" dirty="0"/>
          </a:p>
        </p:txBody>
      </p:sp>
      <p:sp>
        <p:nvSpPr>
          <p:cNvPr id="7" name="Text 5"/>
          <p:cNvSpPr/>
          <p:nvPr/>
        </p:nvSpPr>
        <p:spPr>
          <a:xfrm>
            <a:off x="1073147" y="3785781"/>
            <a:ext cx="4222739"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Reasonable. Also not free, and more pieces than one person needs.</a:t>
            </a:r>
            <a:endParaRPr lang="en-US" sz="1200" dirty="0"/>
          </a:p>
        </p:txBody>
      </p:sp>
      <p:sp>
        <p:nvSpPr>
          <p:cNvPr id="8" name="Shape 6"/>
          <p:cNvSpPr/>
          <p:nvPr/>
        </p:nvSpPr>
        <p:spPr>
          <a:xfrm>
            <a:off x="5708636" y="3043428"/>
            <a:ext cx="761998" cy="406399"/>
          </a:xfrm>
          <a:prstGeom prst="rightArrow">
            <a:avLst/>
          </a:prstGeom>
          <a:solidFill>
            <a:srgbClr val="39FF88"/>
          </a:solidFill>
          <a:ln/>
        </p:spPr>
      </p:sp>
      <p:sp>
        <p:nvSpPr>
          <p:cNvPr id="9" name="Shape 7"/>
          <p:cNvSpPr/>
          <p:nvPr/>
        </p:nvSpPr>
        <p:spPr>
          <a:xfrm>
            <a:off x="6673833" y="2120795"/>
            <a:ext cx="4705338" cy="2251665"/>
          </a:xfrm>
          <a:prstGeom prst="roundRect">
            <a:avLst>
              <a:gd name="adj" fmla="val 3384"/>
            </a:avLst>
          </a:prstGeom>
          <a:solidFill>
            <a:srgbClr val="16201A"/>
          </a:solidFill>
          <a:ln w="12700">
            <a:solidFill>
              <a:srgbClr val="39FF88"/>
            </a:solidFill>
            <a:prstDash val="solid"/>
          </a:ln>
        </p:spPr>
      </p:sp>
      <p:sp>
        <p:nvSpPr>
          <p:cNvPr id="10" name="Text 8"/>
          <p:cNvSpPr/>
          <p:nvPr/>
        </p:nvSpPr>
        <p:spPr>
          <a:xfrm>
            <a:off x="6940533" y="2387495"/>
            <a:ext cx="4222739"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JetBrains Mono" pitchFamily="34" charset="0"/>
                <a:ea typeface="JetBrains Mono" pitchFamily="34" charset="-122"/>
                <a:cs typeface="JetBrains Mono" pitchFamily="34" charset="-120"/>
              </a:rPr>
              <a:t>after “make it as free as possible”</a:t>
            </a:r>
            <a:endParaRPr lang="en-US" sz="1400" dirty="0"/>
          </a:p>
        </p:txBody>
      </p:sp>
      <p:sp>
        <p:nvSpPr>
          <p:cNvPr id="11" name="Text 9"/>
          <p:cNvSpPr/>
          <p:nvPr/>
        </p:nvSpPr>
        <p:spPr>
          <a:xfrm>
            <a:off x="6940533" y="2724044"/>
            <a:ext cx="4222739" cy="1066797"/>
          </a:xfrm>
          <a:prstGeom prst="rect">
            <a:avLst/>
          </a:prstGeom>
          <a:noFill/>
          <a:ln/>
        </p:spPr>
        <p:txBody>
          <a:bodyPr wrap="square" lIns="0" tIns="0" rIns="0" bIns="0" rtlCol="0" anchor="t"/>
          <a:lstStyle/>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Static files on a free host</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Data stays in the browser</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Reminders from the open tab</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Nothing to run, pay for or secure</a:t>
            </a:r>
            <a:endParaRPr lang="en-US" sz="1400" dirty="0"/>
          </a:p>
        </p:txBody>
      </p:sp>
      <p:sp>
        <p:nvSpPr>
          <p:cNvPr id="12" name="Text 10"/>
          <p:cNvSpPr/>
          <p:nvPr/>
        </p:nvSpPr>
        <p:spPr>
          <a:xfrm>
            <a:off x="6940533" y="3892441"/>
            <a:ext cx="4222739" cy="21332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Canvas and document updated together, in one go.</a:t>
            </a:r>
            <a:endParaRPr lang="en-US" sz="1200" dirty="0"/>
          </a:p>
        </p:txBody>
      </p:sp>
      <p:sp>
        <p:nvSpPr>
          <p:cNvPr id="13" name="Text 11"/>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1 · architecture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THE DESIGN CANVAS</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What ends up on the canvas</a:t>
            </a:r>
            <a:endParaRPr lang="en-US" sz="3600" dirty="0"/>
          </a:p>
        </p:txBody>
      </p:sp>
      <p:sp>
        <p:nvSpPr>
          <p:cNvPr id="4" name="Shape 2"/>
          <p:cNvSpPr/>
          <p:nvPr/>
        </p:nvSpPr>
        <p:spPr>
          <a:xfrm>
            <a:off x="812798" y="2020486"/>
            <a:ext cx="3386625" cy="1718068"/>
          </a:xfrm>
          <a:prstGeom prst="roundRect">
            <a:avLst>
              <a:gd name="adj" fmla="val 4435"/>
            </a:avLst>
          </a:prstGeom>
          <a:solidFill>
            <a:srgbClr val="111812"/>
          </a:solidFill>
          <a:ln w="9525">
            <a:solidFill>
              <a:srgbClr val="24402C"/>
            </a:solidFill>
            <a:prstDash val="solid"/>
          </a:ln>
        </p:spPr>
      </p:sp>
      <p:sp>
        <p:nvSpPr>
          <p:cNvPr id="5" name="Text 3"/>
          <p:cNvSpPr/>
          <p:nvPr/>
        </p:nvSpPr>
        <p:spPr>
          <a:xfrm>
            <a:off x="1047747" y="2255435"/>
            <a:ext cx="2967526" cy="247649"/>
          </a:xfrm>
          <a:prstGeom prst="rect">
            <a:avLst/>
          </a:prstGeom>
          <a:noFill/>
          <a:ln/>
        </p:spPr>
        <p:txBody>
          <a:bodyPr wrap="square" lIns="0" tIns="0" rIns="0" bIns="0" rtlCol="0" anchor="t"/>
          <a:lstStyle/>
          <a:p>
            <a:pPr algn="l" indent="0" marL="0">
              <a:lnSpc>
                <a:spcPts val="1800"/>
              </a:lnSpc>
              <a:buNone/>
            </a:pPr>
            <a:r>
              <a:rPr lang="en-US" sz="1500" b="1" dirty="0">
                <a:solidFill>
                  <a:srgbClr val="39FF88"/>
                </a:solidFill>
                <a:latin typeface="IBM Plex Sans" pitchFamily="34" charset="0"/>
                <a:ea typeface="IBM Plex Sans" pitchFamily="34" charset="-122"/>
                <a:cs typeface="IBM Plex Sans" pitchFamily="34" charset="-120"/>
              </a:rPr>
              <a:t>System diagram</a:t>
            </a:r>
            <a:endParaRPr lang="en-US" sz="1500" dirty="0"/>
          </a:p>
        </p:txBody>
      </p:sp>
      <p:sp>
        <p:nvSpPr>
          <p:cNvPr id="6" name="Text 4"/>
          <p:cNvSpPr/>
          <p:nvPr/>
        </p:nvSpPr>
        <p:spPr>
          <a:xfrm>
            <a:off x="1047747" y="2579284"/>
            <a:ext cx="2967526" cy="92432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browser tab as the whole system: UI, store, timer, notifications. One dotted box for the database that could come later.</a:t>
            </a:r>
            <a:endParaRPr lang="en-US" sz="1300" dirty="0"/>
          </a:p>
        </p:txBody>
      </p:sp>
      <p:sp>
        <p:nvSpPr>
          <p:cNvPr id="7" name="Shape 5"/>
          <p:cNvSpPr/>
          <p:nvPr/>
        </p:nvSpPr>
        <p:spPr>
          <a:xfrm>
            <a:off x="4402623" y="2020486"/>
            <a:ext cx="3386625" cy="1718068"/>
          </a:xfrm>
          <a:prstGeom prst="roundRect">
            <a:avLst>
              <a:gd name="adj" fmla="val 4435"/>
            </a:avLst>
          </a:prstGeom>
          <a:solidFill>
            <a:srgbClr val="111812"/>
          </a:solidFill>
          <a:ln w="9525">
            <a:solidFill>
              <a:srgbClr val="24402C"/>
            </a:solidFill>
            <a:prstDash val="solid"/>
          </a:ln>
        </p:spPr>
      </p:sp>
      <p:sp>
        <p:nvSpPr>
          <p:cNvPr id="8" name="Text 6"/>
          <p:cNvSpPr/>
          <p:nvPr/>
        </p:nvSpPr>
        <p:spPr>
          <a:xfrm>
            <a:off x="4637572" y="2255435"/>
            <a:ext cx="2967526" cy="247649"/>
          </a:xfrm>
          <a:prstGeom prst="rect">
            <a:avLst/>
          </a:prstGeom>
          <a:noFill/>
          <a:ln/>
        </p:spPr>
        <p:txBody>
          <a:bodyPr wrap="square" lIns="0" tIns="0" rIns="0" bIns="0" rtlCol="0" anchor="t"/>
          <a:lstStyle/>
          <a:p>
            <a:pPr algn="l" indent="0" marL="0">
              <a:lnSpc>
                <a:spcPts val="1800"/>
              </a:lnSpc>
              <a:buNone/>
            </a:pPr>
            <a:r>
              <a:rPr lang="en-US" sz="1500" b="1" dirty="0">
                <a:solidFill>
                  <a:srgbClr val="39FF88"/>
                </a:solidFill>
                <a:latin typeface="IBM Plex Sans" pitchFamily="34" charset="0"/>
                <a:ea typeface="IBM Plex Sans" pitchFamily="34" charset="-122"/>
                <a:cs typeface="IBM Plex Sans" pitchFamily="34" charset="-120"/>
              </a:rPr>
              <a:t>Reminder flowchart</a:t>
            </a:r>
            <a:endParaRPr lang="en-US" sz="1500" dirty="0"/>
          </a:p>
        </p:txBody>
      </p:sp>
      <p:sp>
        <p:nvSpPr>
          <p:cNvPr id="9" name="Text 7"/>
          <p:cNvSpPr/>
          <p:nvPr/>
        </p:nvSpPr>
        <p:spPr>
          <a:xfrm>
            <a:off x="4637572" y="2579284"/>
            <a:ext cx="2967526" cy="69324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checks in order: work hours, cut-off, daily limit, due, already reminded. The same order the tests use later.</a:t>
            </a:r>
            <a:endParaRPr lang="en-US" sz="1300" dirty="0"/>
          </a:p>
        </p:txBody>
      </p:sp>
      <p:sp>
        <p:nvSpPr>
          <p:cNvPr id="10" name="Shape 8"/>
          <p:cNvSpPr/>
          <p:nvPr/>
        </p:nvSpPr>
        <p:spPr>
          <a:xfrm>
            <a:off x="7992447" y="2020486"/>
            <a:ext cx="3386625" cy="1718068"/>
          </a:xfrm>
          <a:prstGeom prst="roundRect">
            <a:avLst>
              <a:gd name="adj" fmla="val 4435"/>
            </a:avLst>
          </a:prstGeom>
          <a:solidFill>
            <a:srgbClr val="111812"/>
          </a:solidFill>
          <a:ln w="9525">
            <a:solidFill>
              <a:srgbClr val="24402C"/>
            </a:solidFill>
            <a:prstDash val="solid"/>
          </a:ln>
        </p:spPr>
      </p:sp>
      <p:sp>
        <p:nvSpPr>
          <p:cNvPr id="11" name="Text 9"/>
          <p:cNvSpPr/>
          <p:nvPr/>
        </p:nvSpPr>
        <p:spPr>
          <a:xfrm>
            <a:off x="8227397" y="2255435"/>
            <a:ext cx="2967526" cy="247649"/>
          </a:xfrm>
          <a:prstGeom prst="rect">
            <a:avLst/>
          </a:prstGeom>
          <a:noFill/>
          <a:ln/>
        </p:spPr>
        <p:txBody>
          <a:bodyPr wrap="square" lIns="0" tIns="0" rIns="0" bIns="0" rtlCol="0" anchor="t"/>
          <a:lstStyle/>
          <a:p>
            <a:pPr algn="l" indent="0" marL="0">
              <a:lnSpc>
                <a:spcPts val="1800"/>
              </a:lnSpc>
              <a:buNone/>
            </a:pPr>
            <a:r>
              <a:rPr lang="en-US" sz="1500" b="1" dirty="0">
                <a:solidFill>
                  <a:srgbClr val="39FF88"/>
                </a:solidFill>
                <a:latin typeface="IBM Plex Sans" pitchFamily="34" charset="0"/>
                <a:ea typeface="IBM Plex Sans" pitchFamily="34" charset="-122"/>
                <a:cs typeface="IBM Plex Sans" pitchFamily="34" charset="-120"/>
              </a:rPr>
              <a:t>Key decisions</a:t>
            </a:r>
            <a:endParaRPr lang="en-US" sz="1500" dirty="0"/>
          </a:p>
        </p:txBody>
      </p:sp>
      <p:sp>
        <p:nvSpPr>
          <p:cNvPr id="12" name="Text 10"/>
          <p:cNvSpPr/>
          <p:nvPr/>
        </p:nvSpPr>
        <p:spPr>
          <a:xfrm>
            <a:off x="8227397" y="2579284"/>
            <a:ext cx="2967526" cy="69324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Each with the alternative it beat. The same table as the document; change one and the other follows.</a:t>
            </a:r>
            <a:endParaRPr lang="en-US" sz="1300" dirty="0"/>
          </a:p>
        </p:txBody>
      </p:sp>
      <p:sp>
        <p:nvSpPr>
          <p:cNvPr id="13" name="Shape 11"/>
          <p:cNvSpPr/>
          <p:nvPr/>
        </p:nvSpPr>
        <p:spPr>
          <a:xfrm>
            <a:off x="812798" y="3941753"/>
            <a:ext cx="3386625" cy="1718068"/>
          </a:xfrm>
          <a:prstGeom prst="roundRect">
            <a:avLst>
              <a:gd name="adj" fmla="val 4435"/>
            </a:avLst>
          </a:prstGeom>
          <a:solidFill>
            <a:srgbClr val="111812"/>
          </a:solidFill>
          <a:ln w="9525">
            <a:solidFill>
              <a:srgbClr val="24402C"/>
            </a:solidFill>
            <a:prstDash val="solid"/>
          </a:ln>
        </p:spPr>
      </p:sp>
      <p:sp>
        <p:nvSpPr>
          <p:cNvPr id="14" name="Text 12"/>
          <p:cNvSpPr/>
          <p:nvPr/>
        </p:nvSpPr>
        <p:spPr>
          <a:xfrm>
            <a:off x="1047747" y="4176702"/>
            <a:ext cx="2967526" cy="247649"/>
          </a:xfrm>
          <a:prstGeom prst="rect">
            <a:avLst/>
          </a:prstGeom>
          <a:noFill/>
          <a:ln/>
        </p:spPr>
        <p:txBody>
          <a:bodyPr wrap="square" lIns="0" tIns="0" rIns="0" bIns="0" rtlCol="0" anchor="t"/>
          <a:lstStyle/>
          <a:p>
            <a:pPr algn="l" indent="0" marL="0">
              <a:lnSpc>
                <a:spcPts val="1800"/>
              </a:lnSpc>
              <a:buNone/>
            </a:pPr>
            <a:r>
              <a:rPr lang="en-US" sz="1500" b="1" dirty="0">
                <a:solidFill>
                  <a:srgbClr val="39FF88"/>
                </a:solidFill>
                <a:latin typeface="IBM Plex Sans" pitchFamily="34" charset="0"/>
                <a:ea typeface="IBM Plex Sans" pitchFamily="34" charset="-122"/>
                <a:cs typeface="IBM Plex Sans" pitchFamily="34" charset="-120"/>
              </a:rPr>
              <a:t>Three screens</a:t>
            </a:r>
            <a:endParaRPr lang="en-US" sz="1500" dirty="0"/>
          </a:p>
        </p:txBody>
      </p:sp>
      <p:sp>
        <p:nvSpPr>
          <p:cNvPr id="15" name="Text 13"/>
          <p:cNvSpPr/>
          <p:nvPr/>
        </p:nvSpPr>
        <p:spPr>
          <a:xfrm>
            <a:off x="1047747" y="4500551"/>
            <a:ext cx="2967526" cy="92432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Today, Settings and Calendar as working prototypes in a terminal theme, each with a light and a dark mode.</a:t>
            </a:r>
            <a:endParaRPr lang="en-US" sz="1300" dirty="0"/>
          </a:p>
        </p:txBody>
      </p:sp>
      <p:sp>
        <p:nvSpPr>
          <p:cNvPr id="16" name="Shape 14"/>
          <p:cNvSpPr/>
          <p:nvPr/>
        </p:nvSpPr>
        <p:spPr>
          <a:xfrm>
            <a:off x="4402623" y="3941753"/>
            <a:ext cx="3386625" cy="1718068"/>
          </a:xfrm>
          <a:prstGeom prst="roundRect">
            <a:avLst>
              <a:gd name="adj" fmla="val 4435"/>
            </a:avLst>
          </a:prstGeom>
          <a:solidFill>
            <a:srgbClr val="111812"/>
          </a:solidFill>
          <a:ln w="9525">
            <a:solidFill>
              <a:srgbClr val="24402C"/>
            </a:solidFill>
            <a:prstDash val="solid"/>
          </a:ln>
        </p:spPr>
      </p:sp>
      <p:sp>
        <p:nvSpPr>
          <p:cNvPr id="17" name="Text 15"/>
          <p:cNvSpPr/>
          <p:nvPr/>
        </p:nvSpPr>
        <p:spPr>
          <a:xfrm>
            <a:off x="4637572" y="4176702"/>
            <a:ext cx="2967526" cy="247649"/>
          </a:xfrm>
          <a:prstGeom prst="rect">
            <a:avLst/>
          </a:prstGeom>
          <a:noFill/>
          <a:ln/>
        </p:spPr>
        <p:txBody>
          <a:bodyPr wrap="square" lIns="0" tIns="0" rIns="0" bIns="0" rtlCol="0" anchor="t"/>
          <a:lstStyle/>
          <a:p>
            <a:pPr algn="l" indent="0" marL="0">
              <a:lnSpc>
                <a:spcPts val="1800"/>
              </a:lnSpc>
              <a:buNone/>
            </a:pPr>
            <a:r>
              <a:rPr lang="en-US" sz="1500" b="1" dirty="0">
                <a:solidFill>
                  <a:srgbClr val="39FF88"/>
                </a:solidFill>
                <a:latin typeface="IBM Plex Sans" pitchFamily="34" charset="0"/>
                <a:ea typeface="IBM Plex Sans" pitchFamily="34" charset="-122"/>
                <a:cs typeface="IBM Plex Sans" pitchFamily="34" charset="-120"/>
              </a:rPr>
              <a:t>The coffee cup</a:t>
            </a:r>
            <a:endParaRPr lang="en-US" sz="1500" dirty="0"/>
          </a:p>
        </p:txBody>
      </p:sp>
      <p:sp>
        <p:nvSpPr>
          <p:cNvPr id="18" name="Text 16"/>
          <p:cNvSpPr/>
          <p:nvPr/>
        </p:nvSpPr>
        <p:spPr>
          <a:xfrm>
            <a:off x="4637572" y="4500551"/>
            <a:ext cx="2967526" cy="69324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A pixel cup that fills as you log, steams, turns amber at the limit and overflows past it. The app’s one piece of delight.</a:t>
            </a:r>
            <a:endParaRPr lang="en-US" sz="1300" dirty="0"/>
          </a:p>
        </p:txBody>
      </p:sp>
      <p:sp>
        <p:nvSpPr>
          <p:cNvPr id="19" name="Shape 17"/>
          <p:cNvSpPr/>
          <p:nvPr/>
        </p:nvSpPr>
        <p:spPr>
          <a:xfrm>
            <a:off x="7992447" y="3941753"/>
            <a:ext cx="3386625" cy="1718068"/>
          </a:xfrm>
          <a:prstGeom prst="roundRect">
            <a:avLst>
              <a:gd name="adj" fmla="val 4435"/>
            </a:avLst>
          </a:prstGeom>
          <a:solidFill>
            <a:srgbClr val="16201A"/>
          </a:solidFill>
          <a:ln w="12700">
            <a:solidFill>
              <a:srgbClr val="39FF88"/>
            </a:solidFill>
            <a:prstDash val="solid"/>
          </a:ln>
        </p:spPr>
      </p:sp>
      <p:sp>
        <p:nvSpPr>
          <p:cNvPr id="20" name="Text 18"/>
          <p:cNvSpPr/>
          <p:nvPr/>
        </p:nvSpPr>
        <p:spPr>
          <a:xfrm>
            <a:off x="8233747" y="4183052"/>
            <a:ext cx="2954826"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The rule</a:t>
            </a:r>
            <a:endParaRPr lang="en-US" sz="1500" dirty="0"/>
          </a:p>
        </p:txBody>
      </p:sp>
      <p:sp>
        <p:nvSpPr>
          <p:cNvPr id="21" name="Text 19"/>
          <p:cNvSpPr/>
          <p:nvPr/>
        </p:nvSpPr>
        <p:spPr>
          <a:xfrm>
            <a:off x="8233747" y="4506901"/>
            <a:ext cx="2954826" cy="69324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canvas and the document describe one design. Change either and the other is updated, by the same session.</a:t>
            </a:r>
            <a:endParaRPr lang="en-US" sz="1300" dirty="0"/>
          </a:p>
        </p:txBody>
      </p:sp>
      <p:sp>
        <p:nvSpPr>
          <p:cNvPr id="22" name="Text 20"/>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1 · architecture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KEY DECISIONS, EACH WITH WHAT IT BEAT</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Decisions the build inherits</a:t>
            </a:r>
            <a:endParaRPr lang="en-US" sz="3600" dirty="0"/>
          </a:p>
        </p:txBody>
      </p:sp>
      <p:sp>
        <p:nvSpPr>
          <p:cNvPr id="4" name="Shape 2"/>
          <p:cNvSpPr/>
          <p:nvPr/>
        </p:nvSpPr>
        <p:spPr>
          <a:xfrm>
            <a:off x="812798" y="2020486"/>
            <a:ext cx="10566374" cy="2586428"/>
          </a:xfrm>
          <a:prstGeom prst="rect">
            <a:avLst/>
          </a:prstGeom>
          <a:ln w="9525">
            <a:solidFill>
              <a:srgbClr val="24402C"/>
            </a:solidFill>
            <a:prstDash val="solid"/>
          </a:ln>
        </p:spPr>
      </p:sp>
      <p:sp>
        <p:nvSpPr>
          <p:cNvPr id="5" name="Shape 3"/>
          <p:cNvSpPr/>
          <p:nvPr/>
        </p:nvSpPr>
        <p:spPr>
          <a:xfrm>
            <a:off x="815973" y="2023661"/>
            <a:ext cx="10560024" cy="337740"/>
          </a:xfrm>
          <a:prstGeom prst="rect">
            <a:avLst/>
          </a:prstGeom>
          <a:solidFill>
            <a:srgbClr val="16201A"/>
          </a:solidFill>
          <a:ln/>
        </p:spPr>
      </p:sp>
      <p:sp>
        <p:nvSpPr>
          <p:cNvPr id="6" name="Text 4"/>
          <p:cNvSpPr/>
          <p:nvPr/>
        </p:nvSpPr>
        <p:spPr>
          <a:xfrm>
            <a:off x="915033" y="2081445"/>
            <a:ext cx="2809392" cy="222170"/>
          </a:xfrm>
          <a:prstGeom prst="rect">
            <a:avLst/>
          </a:prstGeom>
          <a:noFill/>
          <a:ln/>
        </p:spPr>
        <p:txBody>
          <a:bodyPr wrap="square" lIns="0" tIns="0" rIns="0" bIns="0" rtlCol="0" anchor="t"/>
          <a:lstStyle/>
          <a:p>
            <a:pPr algn="l" indent="0" marL="0">
              <a:lnSpc>
                <a:spcPts val="1560"/>
              </a:lnSpc>
              <a:buNone/>
            </a:pPr>
            <a:r>
              <a:rPr lang="en-US" sz="1300" b="1" dirty="0">
                <a:solidFill>
                  <a:srgbClr val="39FF88"/>
                </a:solidFill>
                <a:latin typeface="IBM Plex Sans" pitchFamily="34" charset="0"/>
                <a:ea typeface="IBM Plex Sans" pitchFamily="34" charset="-122"/>
                <a:cs typeface="IBM Plex Sans" pitchFamily="34" charset="-120"/>
              </a:rPr>
              <a:t>Decision</a:t>
            </a:r>
            <a:endParaRPr lang="en-US" sz="1300" dirty="0"/>
          </a:p>
        </p:txBody>
      </p:sp>
      <p:sp>
        <p:nvSpPr>
          <p:cNvPr id="7" name="Text 5"/>
          <p:cNvSpPr/>
          <p:nvPr/>
        </p:nvSpPr>
        <p:spPr>
          <a:xfrm>
            <a:off x="3871744" y="2081445"/>
            <a:ext cx="4287847" cy="222170"/>
          </a:xfrm>
          <a:prstGeom prst="rect">
            <a:avLst/>
          </a:prstGeom>
          <a:noFill/>
          <a:ln/>
        </p:spPr>
        <p:txBody>
          <a:bodyPr wrap="square" lIns="0" tIns="0" rIns="0" bIns="0" rtlCol="0" anchor="t"/>
          <a:lstStyle/>
          <a:p>
            <a:pPr algn="l" indent="0" marL="0">
              <a:lnSpc>
                <a:spcPts val="1560"/>
              </a:lnSpc>
              <a:buNone/>
            </a:pPr>
            <a:r>
              <a:rPr lang="en-US" sz="1300" b="1" dirty="0">
                <a:solidFill>
                  <a:srgbClr val="39FF88"/>
                </a:solidFill>
                <a:latin typeface="IBM Plex Sans" pitchFamily="34" charset="0"/>
                <a:ea typeface="IBM Plex Sans" pitchFamily="34" charset="-122"/>
                <a:cs typeface="IBM Plex Sans" pitchFamily="34" charset="-120"/>
              </a:rPr>
              <a:t>Why</a:t>
            </a:r>
            <a:endParaRPr lang="en-US" sz="1300" dirty="0"/>
          </a:p>
        </p:txBody>
      </p:sp>
      <p:sp>
        <p:nvSpPr>
          <p:cNvPr id="8" name="Text 6"/>
          <p:cNvSpPr/>
          <p:nvPr/>
        </p:nvSpPr>
        <p:spPr>
          <a:xfrm>
            <a:off x="8306910" y="2081445"/>
            <a:ext cx="3020826" cy="222170"/>
          </a:xfrm>
          <a:prstGeom prst="rect">
            <a:avLst/>
          </a:prstGeom>
          <a:noFill/>
          <a:ln/>
        </p:spPr>
        <p:txBody>
          <a:bodyPr wrap="square" lIns="0" tIns="0" rIns="0" bIns="0" rtlCol="0" anchor="t"/>
          <a:lstStyle/>
          <a:p>
            <a:pPr algn="l" indent="0" marL="0">
              <a:lnSpc>
                <a:spcPts val="1560"/>
              </a:lnSpc>
              <a:buNone/>
            </a:pPr>
            <a:r>
              <a:rPr lang="en-US" sz="1300" b="1" dirty="0">
                <a:solidFill>
                  <a:srgbClr val="39FF88"/>
                </a:solidFill>
                <a:latin typeface="IBM Plex Sans" pitchFamily="34" charset="0"/>
                <a:ea typeface="IBM Plex Sans" pitchFamily="34" charset="-122"/>
                <a:cs typeface="IBM Plex Sans" pitchFamily="34" charset="-120"/>
              </a:rPr>
              <a:t>Instead of</a:t>
            </a:r>
            <a:endParaRPr lang="en-US" sz="1300" dirty="0"/>
          </a:p>
        </p:txBody>
      </p:sp>
      <p:sp>
        <p:nvSpPr>
          <p:cNvPr id="9" name="Shape 7"/>
          <p:cNvSpPr/>
          <p:nvPr/>
        </p:nvSpPr>
        <p:spPr>
          <a:xfrm>
            <a:off x="815973" y="2361400"/>
            <a:ext cx="10560024" cy="0"/>
          </a:xfrm>
          <a:prstGeom prst="line">
            <a:avLst/>
          </a:prstGeom>
          <a:noFill/>
          <a:ln w="6350">
            <a:solidFill>
              <a:srgbClr val="24402C"/>
            </a:solidFill>
            <a:prstDash val="solid"/>
          </a:ln>
        </p:spPr>
      </p:sp>
      <p:sp>
        <p:nvSpPr>
          <p:cNvPr id="10" name="Text 8"/>
          <p:cNvSpPr/>
          <p:nvPr/>
        </p:nvSpPr>
        <p:spPr>
          <a:xfrm>
            <a:off x="915033" y="2419185"/>
            <a:ext cx="2809392"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A static web app</a:t>
            </a:r>
            <a:endParaRPr lang="en-US" sz="1300" dirty="0"/>
          </a:p>
        </p:txBody>
      </p:sp>
      <p:sp>
        <p:nvSpPr>
          <p:cNvPr id="11" name="Text 9"/>
          <p:cNvSpPr/>
          <p:nvPr/>
        </p:nvSpPr>
        <p:spPr>
          <a:xfrm>
            <a:off x="3871744" y="2419185"/>
            <a:ext cx="4287847"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Builds to plain files any free host serves</a:t>
            </a:r>
            <a:endParaRPr lang="en-US" sz="1300" dirty="0"/>
          </a:p>
        </p:txBody>
      </p:sp>
      <p:sp>
        <p:nvSpPr>
          <p:cNvPr id="12" name="Text 10"/>
          <p:cNvSpPr/>
          <p:nvPr/>
        </p:nvSpPr>
        <p:spPr>
          <a:xfrm>
            <a:off x="8306910" y="2419185"/>
            <a:ext cx="3020826"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A native mobile app</a:t>
            </a:r>
            <a:endParaRPr lang="en-US" sz="1300" dirty="0"/>
          </a:p>
        </p:txBody>
      </p:sp>
      <p:sp>
        <p:nvSpPr>
          <p:cNvPr id="13" name="Shape 11"/>
          <p:cNvSpPr/>
          <p:nvPr/>
        </p:nvSpPr>
        <p:spPr>
          <a:xfrm>
            <a:off x="815973" y="2699140"/>
            <a:ext cx="10560024" cy="0"/>
          </a:xfrm>
          <a:prstGeom prst="line">
            <a:avLst/>
          </a:prstGeom>
          <a:noFill/>
          <a:ln w="6350">
            <a:solidFill>
              <a:srgbClr val="24402C"/>
            </a:solidFill>
            <a:prstDash val="solid"/>
          </a:ln>
        </p:spPr>
      </p:sp>
      <p:sp>
        <p:nvSpPr>
          <p:cNvPr id="14" name="Shape 12"/>
          <p:cNvSpPr/>
          <p:nvPr/>
        </p:nvSpPr>
        <p:spPr>
          <a:xfrm>
            <a:off x="815973" y="2699140"/>
            <a:ext cx="10560024" cy="337740"/>
          </a:xfrm>
          <a:prstGeom prst="rect">
            <a:avLst/>
          </a:prstGeom>
          <a:solidFill>
            <a:srgbClr val="111812"/>
          </a:solidFill>
          <a:ln/>
        </p:spPr>
      </p:sp>
      <p:sp>
        <p:nvSpPr>
          <p:cNvPr id="15" name="Text 13"/>
          <p:cNvSpPr/>
          <p:nvPr/>
        </p:nvSpPr>
        <p:spPr>
          <a:xfrm>
            <a:off x="915033" y="2756925"/>
            <a:ext cx="2809392"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No backend at all</a:t>
            </a:r>
            <a:endParaRPr lang="en-US" sz="1300" dirty="0"/>
          </a:p>
        </p:txBody>
      </p:sp>
      <p:sp>
        <p:nvSpPr>
          <p:cNvPr id="16" name="Text 14"/>
          <p:cNvSpPr/>
          <p:nvPr/>
        </p:nvSpPr>
        <p:spPr>
          <a:xfrm>
            <a:off x="3871744" y="2756925"/>
            <a:ext cx="4287847"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Nothing to run, pay for or secure</a:t>
            </a:r>
            <a:endParaRPr lang="en-US" sz="1300" dirty="0"/>
          </a:p>
        </p:txBody>
      </p:sp>
      <p:sp>
        <p:nvSpPr>
          <p:cNvPr id="17" name="Text 15"/>
          <p:cNvSpPr/>
          <p:nvPr/>
        </p:nvSpPr>
        <p:spPr>
          <a:xfrm>
            <a:off x="8306910" y="2756925"/>
            <a:ext cx="3020826"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A container, or edge workers</a:t>
            </a:r>
            <a:endParaRPr lang="en-US" sz="1300" dirty="0"/>
          </a:p>
        </p:txBody>
      </p:sp>
      <p:sp>
        <p:nvSpPr>
          <p:cNvPr id="18" name="Shape 16"/>
          <p:cNvSpPr/>
          <p:nvPr/>
        </p:nvSpPr>
        <p:spPr>
          <a:xfrm>
            <a:off x="815973" y="3036880"/>
            <a:ext cx="10560024" cy="0"/>
          </a:xfrm>
          <a:prstGeom prst="line">
            <a:avLst/>
          </a:prstGeom>
          <a:noFill/>
          <a:ln w="6350">
            <a:solidFill>
              <a:srgbClr val="24402C"/>
            </a:solidFill>
            <a:prstDash val="solid"/>
          </a:ln>
        </p:spPr>
      </p:sp>
      <p:sp>
        <p:nvSpPr>
          <p:cNvPr id="19" name="Text 17"/>
          <p:cNvSpPr/>
          <p:nvPr/>
        </p:nvSpPr>
        <p:spPr>
          <a:xfrm>
            <a:off x="915033" y="3094665"/>
            <a:ext cx="2809392"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Reminders from the open tab</a:t>
            </a:r>
            <a:endParaRPr lang="en-US" sz="1300" dirty="0"/>
          </a:p>
        </p:txBody>
      </p:sp>
      <p:sp>
        <p:nvSpPr>
          <p:cNvPr id="20" name="Text 18"/>
          <p:cNvSpPr/>
          <p:nvPr/>
        </p:nvSpPr>
        <p:spPr>
          <a:xfrm>
            <a:off x="3871744" y="3094665"/>
            <a:ext cx="4287847"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A background tab still runs a once-a-minute timer</a:t>
            </a:r>
            <a:endParaRPr lang="en-US" sz="1300" dirty="0"/>
          </a:p>
        </p:txBody>
      </p:sp>
      <p:sp>
        <p:nvSpPr>
          <p:cNvPr id="21" name="Text 19"/>
          <p:cNvSpPr/>
          <p:nvPr/>
        </p:nvSpPr>
        <p:spPr>
          <a:xfrm>
            <a:off x="8306910" y="3094665"/>
            <a:ext cx="3020826"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A server-side scheduler</a:t>
            </a:r>
            <a:endParaRPr lang="en-US" sz="1300" dirty="0"/>
          </a:p>
        </p:txBody>
      </p:sp>
      <p:sp>
        <p:nvSpPr>
          <p:cNvPr id="22" name="Shape 20"/>
          <p:cNvSpPr/>
          <p:nvPr/>
        </p:nvSpPr>
        <p:spPr>
          <a:xfrm>
            <a:off x="815973" y="3374620"/>
            <a:ext cx="10560024" cy="0"/>
          </a:xfrm>
          <a:prstGeom prst="line">
            <a:avLst/>
          </a:prstGeom>
          <a:noFill/>
          <a:ln w="6350">
            <a:solidFill>
              <a:srgbClr val="24402C"/>
            </a:solidFill>
            <a:prstDash val="solid"/>
          </a:ln>
        </p:spPr>
      </p:sp>
      <p:sp>
        <p:nvSpPr>
          <p:cNvPr id="23" name="Shape 21"/>
          <p:cNvSpPr/>
          <p:nvPr/>
        </p:nvSpPr>
        <p:spPr>
          <a:xfrm>
            <a:off x="815973" y="3374620"/>
            <a:ext cx="10560024" cy="553639"/>
          </a:xfrm>
          <a:prstGeom prst="rect">
            <a:avLst/>
          </a:prstGeom>
          <a:solidFill>
            <a:srgbClr val="111812"/>
          </a:solidFill>
          <a:ln/>
        </p:spPr>
      </p:sp>
      <p:sp>
        <p:nvSpPr>
          <p:cNvPr id="24" name="Text 22"/>
          <p:cNvSpPr/>
          <p:nvPr/>
        </p:nvSpPr>
        <p:spPr>
          <a:xfrm>
            <a:off x="915033" y="3432405"/>
            <a:ext cx="2809392"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An async store interface</a:t>
            </a:r>
            <a:endParaRPr lang="en-US" sz="1300" dirty="0"/>
          </a:p>
        </p:txBody>
      </p:sp>
      <p:sp>
        <p:nvSpPr>
          <p:cNvPr id="25" name="Text 23"/>
          <p:cNvSpPr/>
          <p:nvPr/>
        </p:nvSpPr>
        <p:spPr>
          <a:xfrm>
            <a:off x="3871744" y="3432405"/>
            <a:ext cx="4287847"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A database can replace the browser later by adding one class</a:t>
            </a:r>
            <a:endParaRPr lang="en-US" sz="1300" dirty="0"/>
          </a:p>
        </p:txBody>
      </p:sp>
      <p:sp>
        <p:nvSpPr>
          <p:cNvPr id="26" name="Text 24"/>
          <p:cNvSpPr/>
          <p:nvPr/>
        </p:nvSpPr>
        <p:spPr>
          <a:xfrm>
            <a:off x="8306910" y="3432405"/>
            <a:ext cx="3020826"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Calling browser storage directly</a:t>
            </a:r>
            <a:endParaRPr lang="en-US" sz="1300" dirty="0"/>
          </a:p>
        </p:txBody>
      </p:sp>
      <p:sp>
        <p:nvSpPr>
          <p:cNvPr id="27" name="Shape 25"/>
          <p:cNvSpPr/>
          <p:nvPr/>
        </p:nvSpPr>
        <p:spPr>
          <a:xfrm>
            <a:off x="815973" y="3928259"/>
            <a:ext cx="10560024" cy="0"/>
          </a:xfrm>
          <a:prstGeom prst="line">
            <a:avLst/>
          </a:prstGeom>
          <a:noFill/>
          <a:ln w="6350">
            <a:solidFill>
              <a:srgbClr val="24402C"/>
            </a:solidFill>
            <a:prstDash val="solid"/>
          </a:ln>
        </p:spPr>
      </p:sp>
      <p:sp>
        <p:nvSpPr>
          <p:cNvPr id="28" name="Text 26"/>
          <p:cNvSpPr/>
          <p:nvPr/>
        </p:nvSpPr>
        <p:spPr>
          <a:xfrm>
            <a:off x="915033" y="3986044"/>
            <a:ext cx="2809392"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Rules as pure functions</a:t>
            </a:r>
            <a:endParaRPr lang="en-US" sz="1300" dirty="0"/>
          </a:p>
        </p:txBody>
      </p:sp>
      <p:sp>
        <p:nvSpPr>
          <p:cNvPr id="29" name="Text 27"/>
          <p:cNvSpPr/>
          <p:nvPr/>
        </p:nvSpPr>
        <p:spPr>
          <a:xfrm>
            <a:off x="3871744" y="3986044"/>
            <a:ext cx="4287847"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Every edge case becomes one line of test</a:t>
            </a:r>
            <a:endParaRPr lang="en-US" sz="1300" dirty="0"/>
          </a:p>
        </p:txBody>
      </p:sp>
      <p:sp>
        <p:nvSpPr>
          <p:cNvPr id="30" name="Text 28"/>
          <p:cNvSpPr/>
          <p:nvPr/>
        </p:nvSpPr>
        <p:spPr>
          <a:xfrm>
            <a:off x="8306910" y="3986044"/>
            <a:ext cx="3020826"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Rules mixed into the screens</a:t>
            </a:r>
            <a:endParaRPr lang="en-US" sz="1300" dirty="0"/>
          </a:p>
        </p:txBody>
      </p:sp>
      <p:sp>
        <p:nvSpPr>
          <p:cNvPr id="31" name="Shape 29"/>
          <p:cNvSpPr/>
          <p:nvPr/>
        </p:nvSpPr>
        <p:spPr>
          <a:xfrm>
            <a:off x="815973" y="4265999"/>
            <a:ext cx="10560024" cy="0"/>
          </a:xfrm>
          <a:prstGeom prst="line">
            <a:avLst/>
          </a:prstGeom>
          <a:noFill/>
          <a:ln w="6350">
            <a:solidFill>
              <a:srgbClr val="24402C"/>
            </a:solidFill>
            <a:prstDash val="solid"/>
          </a:ln>
        </p:spPr>
      </p:sp>
      <p:sp>
        <p:nvSpPr>
          <p:cNvPr id="32" name="Shape 30"/>
          <p:cNvSpPr/>
          <p:nvPr/>
        </p:nvSpPr>
        <p:spPr>
          <a:xfrm>
            <a:off x="815973" y="4265999"/>
            <a:ext cx="10560024" cy="337740"/>
          </a:xfrm>
          <a:prstGeom prst="rect">
            <a:avLst/>
          </a:prstGeom>
          <a:solidFill>
            <a:srgbClr val="111812"/>
          </a:solidFill>
          <a:ln/>
        </p:spPr>
      </p:sp>
      <p:sp>
        <p:nvSpPr>
          <p:cNvPr id="33" name="Text 31"/>
          <p:cNvSpPr/>
          <p:nvPr/>
        </p:nvSpPr>
        <p:spPr>
          <a:xfrm>
            <a:off x="915033" y="4323784"/>
            <a:ext cx="2809392"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The built-in Intl API for time zones</a:t>
            </a:r>
            <a:endParaRPr lang="en-US" sz="1300" dirty="0"/>
          </a:p>
        </p:txBody>
      </p:sp>
      <p:sp>
        <p:nvSpPr>
          <p:cNvPr id="34" name="Text 32"/>
          <p:cNvSpPr/>
          <p:nvPr/>
        </p:nvSpPr>
        <p:spPr>
          <a:xfrm>
            <a:off x="3871744" y="4323784"/>
            <a:ext cx="4287847"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No dependency; the browser already knows every zone</a:t>
            </a:r>
            <a:endParaRPr lang="en-US" sz="1300" dirty="0"/>
          </a:p>
        </p:txBody>
      </p:sp>
      <p:sp>
        <p:nvSpPr>
          <p:cNvPr id="35" name="Text 33"/>
          <p:cNvSpPr/>
          <p:nvPr/>
        </p:nvSpPr>
        <p:spPr>
          <a:xfrm>
            <a:off x="8306910" y="4323784"/>
            <a:ext cx="3020826" cy="2221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A date library</a:t>
            </a:r>
            <a:endParaRPr lang="en-US" sz="1300" dirty="0"/>
          </a:p>
        </p:txBody>
      </p:sp>
      <p:sp>
        <p:nvSpPr>
          <p:cNvPr id="36" name="Shape 34"/>
          <p:cNvSpPr/>
          <p:nvPr/>
        </p:nvSpPr>
        <p:spPr>
          <a:xfrm>
            <a:off x="815973" y="4603738"/>
            <a:ext cx="10560024" cy="0"/>
          </a:xfrm>
          <a:prstGeom prst="line">
            <a:avLst/>
          </a:prstGeom>
          <a:noFill/>
          <a:ln w="6350">
            <a:solidFill>
              <a:srgbClr val="24402C"/>
            </a:solidFill>
            <a:prstDash val="solid"/>
          </a:ln>
        </p:spPr>
      </p:sp>
      <p:sp>
        <p:nvSpPr>
          <p:cNvPr id="37" name="Text 35"/>
          <p:cNvSpPr/>
          <p:nvPr/>
        </p:nvSpPr>
        <p:spPr>
          <a:xfrm>
            <a:off x="812798" y="4860913"/>
            <a:ext cx="10617173" cy="23108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alternatives column is the part people forget to write down. It is what makes the table useful a year later.</a:t>
            </a:r>
            <a:endParaRPr lang="en-US" sz="1300" dirty="0"/>
          </a:p>
        </p:txBody>
      </p:sp>
      <p:sp>
        <p:nvSpPr>
          <p:cNvPr id="38" name="Text 36"/>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1 · architecture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THE PROJECT’S MEMORY</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One file every later session reads</a:t>
            </a:r>
            <a:endParaRPr lang="en-US" sz="3600" dirty="0"/>
          </a:p>
        </p:txBody>
      </p:sp>
      <p:sp>
        <p:nvSpPr>
          <p:cNvPr id="4" name="Shape 2"/>
          <p:cNvSpPr/>
          <p:nvPr/>
        </p:nvSpPr>
        <p:spPr>
          <a:xfrm>
            <a:off x="812798" y="2020486"/>
            <a:ext cx="5181587" cy="2190745"/>
          </a:xfrm>
          <a:prstGeom prst="roundRect">
            <a:avLst>
              <a:gd name="adj" fmla="val 3478"/>
            </a:avLst>
          </a:prstGeom>
          <a:solidFill>
            <a:srgbClr val="111812"/>
          </a:solidFill>
          <a:ln w="9525">
            <a:solidFill>
              <a:srgbClr val="24402C"/>
            </a:solidFill>
            <a:prstDash val="solid"/>
          </a:ln>
        </p:spPr>
      </p:sp>
      <p:sp>
        <p:nvSpPr>
          <p:cNvPr id="5" name="Text 3"/>
          <p:cNvSpPr/>
          <p:nvPr/>
        </p:nvSpPr>
        <p:spPr>
          <a:xfrm>
            <a:off x="1073147" y="2280835"/>
            <a:ext cx="4711688"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JetBrains Mono" pitchFamily="34" charset="0"/>
                <a:ea typeface="JetBrains Mono" pitchFamily="34" charset="-122"/>
                <a:cs typeface="JetBrains Mono" pitchFamily="34" charset="-120"/>
              </a:rPr>
              <a:t>what goes in it</a:t>
            </a:r>
            <a:endParaRPr lang="en-US" sz="1400" dirty="0"/>
          </a:p>
        </p:txBody>
      </p:sp>
      <p:sp>
        <p:nvSpPr>
          <p:cNvPr id="6" name="Text 4"/>
          <p:cNvSpPr/>
          <p:nvPr/>
        </p:nvSpPr>
        <p:spPr>
          <a:xfrm>
            <a:off x="1073147" y="2617384"/>
            <a:ext cx="4711688" cy="1066797"/>
          </a:xfrm>
          <a:prstGeom prst="rect">
            <a:avLst/>
          </a:prstGeom>
          <a:noFill/>
          <a:ln/>
        </p:spPr>
        <p:txBody>
          <a:bodyPr wrap="square" lIns="0" tIns="0" rIns="0" bIns="0" rtlCol="0" anchor="t"/>
          <a:lstStyle/>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Where the architecture and the canvas live</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The stack, in three lines</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The commands that run, test and build</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Rules that must hold across sessions</a:t>
            </a:r>
            <a:endParaRPr lang="en-US" sz="1400" dirty="0"/>
          </a:p>
        </p:txBody>
      </p:sp>
      <p:sp>
        <p:nvSpPr>
          <p:cNvPr id="7" name="Shape 5"/>
          <p:cNvSpPr/>
          <p:nvPr/>
        </p:nvSpPr>
        <p:spPr>
          <a:xfrm>
            <a:off x="6197585" y="2020486"/>
            <a:ext cx="5181587" cy="2190745"/>
          </a:xfrm>
          <a:prstGeom prst="roundRect">
            <a:avLst>
              <a:gd name="adj" fmla="val 3478"/>
            </a:avLst>
          </a:prstGeom>
          <a:solidFill>
            <a:srgbClr val="111812"/>
          </a:solidFill>
          <a:ln w="9525">
            <a:solidFill>
              <a:srgbClr val="24402C"/>
            </a:solidFill>
            <a:prstDash val="solid"/>
          </a:ln>
        </p:spPr>
      </p:sp>
      <p:sp>
        <p:nvSpPr>
          <p:cNvPr id="8" name="Text 6"/>
          <p:cNvSpPr/>
          <p:nvPr/>
        </p:nvSpPr>
        <p:spPr>
          <a:xfrm>
            <a:off x="6457934" y="2280835"/>
            <a:ext cx="4711688"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JetBrains Mono" pitchFamily="34" charset="0"/>
                <a:ea typeface="JetBrains Mono" pitchFamily="34" charset="-122"/>
                <a:cs typeface="JetBrains Mono" pitchFamily="34" charset="-120"/>
              </a:rPr>
              <a:t>rules worth stating</a:t>
            </a:r>
            <a:endParaRPr lang="en-US" sz="1400" dirty="0"/>
          </a:p>
        </p:txBody>
      </p:sp>
      <p:sp>
        <p:nvSpPr>
          <p:cNvPr id="9" name="Text 7"/>
          <p:cNvSpPr/>
          <p:nvPr/>
        </p:nvSpPr>
        <p:spPr>
          <a:xfrm>
            <a:off x="6457934" y="2617384"/>
            <a:ext cx="4711688" cy="1333497"/>
          </a:xfrm>
          <a:prstGeom prst="rect">
            <a:avLst/>
          </a:prstGeom>
          <a:noFill/>
          <a:ln/>
        </p:spPr>
        <p:txBody>
          <a:bodyPr wrap="square" lIns="0" tIns="0" rIns="0" bIns="0" rtlCol="0" anchor="t"/>
          <a:lstStyle/>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Free and simple: no server, no accounts, no paid services</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Rules stay pure; the clock is passed in</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Only one class touches browser storage</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Every caffeine figure needs a source</a:t>
            </a:r>
            <a:endParaRPr lang="en-US" sz="1400" dirty="0"/>
          </a:p>
        </p:txBody>
      </p:sp>
      <p:sp>
        <p:nvSpPr>
          <p:cNvPr id="10" name="Text 8"/>
          <p:cNvSpPr/>
          <p:nvPr/>
        </p:nvSpPr>
        <p:spPr>
          <a:xfrm>
            <a:off x="812798" y="4465229"/>
            <a:ext cx="10617173" cy="248840"/>
          </a:xfrm>
          <a:prstGeom prst="rect">
            <a:avLst/>
          </a:prstGeom>
          <a:noFill/>
          <a:ln/>
        </p:spPr>
        <p:txBody>
          <a:bodyPr wrap="square" lIns="0" tIns="0" rIns="0" bIns="0" rtlCol="0" anchor="t"/>
          <a:lstStyle/>
          <a:p>
            <a:pPr algn="l" indent="0" marL="0">
              <a:lnSpc>
                <a:spcPts val="1960"/>
              </a:lnSpc>
              <a:buNone/>
            </a:pPr>
            <a:r>
              <a:rPr lang="en-US" sz="1400" dirty="0">
                <a:solidFill>
                  <a:srgbClr val="A9C9B3"/>
                </a:solidFill>
                <a:latin typeface="IBM Plex Sans" pitchFamily="34" charset="0"/>
                <a:ea typeface="IBM Plex Sans" pitchFamily="34" charset="-122"/>
                <a:cs typeface="IBM Plex Sans" pitchFamily="34" charset="-120"/>
              </a:rPr>
              <a:t>In Parts 2 to 4, nobody repeats any of this. Watch for the moment a session follows a rule it was never told in the chat.</a:t>
            </a:r>
            <a:endParaRPr lang="en-US" sz="1400" dirty="0"/>
          </a:p>
        </p:txBody>
      </p:sp>
      <p:sp>
        <p:nvSpPr>
          <p:cNvPr id="11" name="Text 9"/>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1 · architecture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WHAT EXISTS AT THE END OF PART 1</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Outputs, and the safety net</a:t>
            </a:r>
            <a:endParaRPr lang="en-US" sz="3600" dirty="0"/>
          </a:p>
        </p:txBody>
      </p:sp>
      <p:sp>
        <p:nvSpPr>
          <p:cNvPr id="4" name="Shape 2"/>
          <p:cNvSpPr/>
          <p:nvPr/>
        </p:nvSpPr>
        <p:spPr>
          <a:xfrm>
            <a:off x="812798" y="2020486"/>
            <a:ext cx="3382359" cy="1880687"/>
          </a:xfrm>
          <a:prstGeom prst="roundRect">
            <a:avLst>
              <a:gd name="adj" fmla="val 4052"/>
            </a:avLst>
          </a:prstGeom>
          <a:solidFill>
            <a:srgbClr val="111812"/>
          </a:solidFill>
          <a:ln w="9525">
            <a:solidFill>
              <a:srgbClr val="24402C"/>
            </a:solidFill>
            <a:prstDash val="solid"/>
          </a:ln>
        </p:spPr>
      </p:sp>
      <p:sp>
        <p:nvSpPr>
          <p:cNvPr id="5" name="Shape 3"/>
          <p:cNvSpPr/>
          <p:nvPr/>
        </p:nvSpPr>
        <p:spPr>
          <a:xfrm>
            <a:off x="1047747" y="2331635"/>
            <a:ext cx="152400" cy="152400"/>
          </a:xfrm>
          <a:prstGeom prst="roundRect">
            <a:avLst>
              <a:gd name="adj" fmla="val 25000"/>
            </a:avLst>
          </a:prstGeom>
          <a:solidFill>
            <a:srgbClr val="39FF88"/>
          </a:solidFill>
          <a:ln/>
        </p:spPr>
      </p:sp>
      <p:sp>
        <p:nvSpPr>
          <p:cNvPr id="6" name="Text 4"/>
          <p:cNvSpPr/>
          <p:nvPr/>
        </p:nvSpPr>
        <p:spPr>
          <a:xfrm>
            <a:off x="1047747" y="2636434"/>
            <a:ext cx="2963260"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Three documents</a:t>
            </a:r>
            <a:endParaRPr lang="en-US" sz="1500" dirty="0"/>
          </a:p>
        </p:txBody>
      </p:sp>
      <p:sp>
        <p:nvSpPr>
          <p:cNvPr id="7" name="Text 5"/>
          <p:cNvSpPr/>
          <p:nvPr/>
        </p:nvSpPr>
        <p:spPr>
          <a:xfrm>
            <a:off x="1047747" y="2960283"/>
            <a:ext cx="2963260" cy="69324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architecture, the demo runbook with the prompts for every part, and the project memory file.</a:t>
            </a:r>
            <a:endParaRPr lang="en-US" sz="1300" dirty="0"/>
          </a:p>
        </p:txBody>
      </p:sp>
      <p:sp>
        <p:nvSpPr>
          <p:cNvPr id="8" name="Shape 6"/>
          <p:cNvSpPr/>
          <p:nvPr/>
        </p:nvSpPr>
        <p:spPr>
          <a:xfrm>
            <a:off x="4398356" y="2020486"/>
            <a:ext cx="3382458" cy="1880687"/>
          </a:xfrm>
          <a:prstGeom prst="roundRect">
            <a:avLst>
              <a:gd name="adj" fmla="val 4052"/>
            </a:avLst>
          </a:prstGeom>
          <a:solidFill>
            <a:srgbClr val="111812"/>
          </a:solidFill>
          <a:ln w="9525">
            <a:solidFill>
              <a:srgbClr val="24402C"/>
            </a:solidFill>
            <a:prstDash val="solid"/>
          </a:ln>
        </p:spPr>
      </p:sp>
      <p:sp>
        <p:nvSpPr>
          <p:cNvPr id="9" name="Shape 7"/>
          <p:cNvSpPr/>
          <p:nvPr/>
        </p:nvSpPr>
        <p:spPr>
          <a:xfrm>
            <a:off x="4633306" y="2331635"/>
            <a:ext cx="152400" cy="152400"/>
          </a:xfrm>
          <a:prstGeom prst="roundRect">
            <a:avLst>
              <a:gd name="adj" fmla="val 25000"/>
            </a:avLst>
          </a:prstGeom>
          <a:solidFill>
            <a:srgbClr val="39FF88"/>
          </a:solidFill>
          <a:ln/>
        </p:spPr>
      </p:sp>
      <p:sp>
        <p:nvSpPr>
          <p:cNvPr id="10" name="Text 8"/>
          <p:cNvSpPr/>
          <p:nvPr/>
        </p:nvSpPr>
        <p:spPr>
          <a:xfrm>
            <a:off x="4633306" y="2636434"/>
            <a:ext cx="2963359"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One canvas</a:t>
            </a:r>
            <a:endParaRPr lang="en-US" sz="1500" dirty="0"/>
          </a:p>
        </p:txBody>
      </p:sp>
      <p:sp>
        <p:nvSpPr>
          <p:cNvPr id="11" name="Text 9"/>
          <p:cNvSpPr/>
          <p:nvPr/>
        </p:nvSpPr>
        <p:spPr>
          <a:xfrm>
            <a:off x="4633306" y="2960283"/>
            <a:ext cx="2963359" cy="69324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Diagrams, decisions, three screens and the coffee cup, linked from the document and kept in step with it.</a:t>
            </a:r>
            <a:endParaRPr lang="en-US" sz="1300" dirty="0"/>
          </a:p>
        </p:txBody>
      </p:sp>
      <p:sp>
        <p:nvSpPr>
          <p:cNvPr id="12" name="Shape 10"/>
          <p:cNvSpPr/>
          <p:nvPr/>
        </p:nvSpPr>
        <p:spPr>
          <a:xfrm>
            <a:off x="7984014" y="2020486"/>
            <a:ext cx="3395158" cy="1880687"/>
          </a:xfrm>
          <a:prstGeom prst="roundRect">
            <a:avLst>
              <a:gd name="adj" fmla="val 4052"/>
            </a:avLst>
          </a:prstGeom>
          <a:solidFill>
            <a:srgbClr val="16201A"/>
          </a:solidFill>
          <a:ln w="12700">
            <a:solidFill>
              <a:srgbClr val="39FF88"/>
            </a:solidFill>
            <a:prstDash val="solid"/>
          </a:ln>
        </p:spPr>
      </p:sp>
      <p:sp>
        <p:nvSpPr>
          <p:cNvPr id="13" name="Shape 11"/>
          <p:cNvSpPr/>
          <p:nvPr/>
        </p:nvSpPr>
        <p:spPr>
          <a:xfrm>
            <a:off x="8225313" y="2337985"/>
            <a:ext cx="152400" cy="152400"/>
          </a:xfrm>
          <a:prstGeom prst="roundRect">
            <a:avLst>
              <a:gd name="adj" fmla="val 25000"/>
            </a:avLst>
          </a:prstGeom>
          <a:solidFill>
            <a:srgbClr val="39FF88"/>
          </a:solidFill>
          <a:ln/>
        </p:spPr>
      </p:sp>
      <p:sp>
        <p:nvSpPr>
          <p:cNvPr id="14" name="Text 12"/>
          <p:cNvSpPr/>
          <p:nvPr/>
        </p:nvSpPr>
        <p:spPr>
          <a:xfrm>
            <a:off x="8225313" y="2642784"/>
            <a:ext cx="2963359"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One tag</a:t>
            </a:r>
            <a:endParaRPr lang="en-US" sz="1500" dirty="0"/>
          </a:p>
        </p:txBody>
      </p:sp>
      <p:sp>
        <p:nvSpPr>
          <p:cNvPr id="15" name="Text 13"/>
          <p:cNvSpPr/>
          <p:nvPr/>
        </p:nvSpPr>
        <p:spPr>
          <a:xfrm>
            <a:off x="8225313" y="2966633"/>
            <a:ext cx="2963359" cy="69324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folder is frozen at its tag. If a later live step goes wrong, check out the tag and carry on from here.</a:t>
            </a:r>
            <a:endParaRPr lang="en-US" sz="1300" dirty="0"/>
          </a:p>
        </p:txBody>
      </p:sp>
      <p:sp>
        <p:nvSpPr>
          <p:cNvPr id="16" name="Shape 14"/>
          <p:cNvSpPr/>
          <p:nvPr/>
        </p:nvSpPr>
        <p:spPr>
          <a:xfrm>
            <a:off x="812798" y="4155172"/>
            <a:ext cx="10566374" cy="916779"/>
          </a:xfrm>
          <a:prstGeom prst="roundRect">
            <a:avLst>
              <a:gd name="adj" fmla="val 8312"/>
            </a:avLst>
          </a:prstGeom>
          <a:solidFill>
            <a:srgbClr val="111812"/>
          </a:solidFill>
          <a:ln w="9525">
            <a:solidFill>
              <a:srgbClr val="24402C"/>
            </a:solidFill>
            <a:prstDash val="solid"/>
          </a:ln>
        </p:spPr>
      </p:sp>
      <p:sp>
        <p:nvSpPr>
          <p:cNvPr id="17" name="Text 15"/>
          <p:cNvSpPr/>
          <p:nvPr/>
        </p:nvSpPr>
        <p:spPr>
          <a:xfrm>
            <a:off x="1073147" y="4378612"/>
            <a:ext cx="661986" cy="469899"/>
          </a:xfrm>
          <a:prstGeom prst="rect">
            <a:avLst/>
          </a:prstGeom>
          <a:noFill/>
          <a:ln/>
        </p:spPr>
        <p:txBody>
          <a:bodyPr wrap="square" lIns="0" tIns="0" rIns="0" bIns="0" rtlCol="0" anchor="t"/>
          <a:lstStyle/>
          <a:p>
            <a:pPr algn="l" indent="0" marL="0">
              <a:lnSpc>
                <a:spcPts val="1680"/>
              </a:lnSpc>
              <a:buNone/>
            </a:pPr>
            <a:r>
              <a:rPr lang="en-US" sz="1400" dirty="0">
                <a:solidFill>
                  <a:srgbClr val="39FF88"/>
                </a:solidFill>
                <a:latin typeface="JetBrains Mono" pitchFamily="34" charset="0"/>
                <a:ea typeface="JetBrains Mono" pitchFamily="34" charset="-122"/>
                <a:cs typeface="JetBrains Mono" pitchFamily="34" charset="-120"/>
              </a:rPr>
              <a:t>next →</a:t>
            </a:r>
            <a:endParaRPr lang="en-US" sz="1400" dirty="0"/>
          </a:p>
        </p:txBody>
      </p:sp>
      <p:sp>
        <p:nvSpPr>
          <p:cNvPr id="18" name="Text 16"/>
          <p:cNvSpPr/>
          <p:nvPr/>
        </p:nvSpPr>
        <p:spPr>
          <a:xfrm>
            <a:off x="1836733" y="4364721"/>
            <a:ext cx="9332889" cy="497680"/>
          </a:xfrm>
          <a:prstGeom prst="rect">
            <a:avLst/>
          </a:prstGeom>
          <a:noFill/>
          <a:ln/>
        </p:spPr>
        <p:txBody>
          <a:bodyPr wrap="square" lIns="0" tIns="0" rIns="0" bIns="0" rtlCol="0" anchor="t"/>
          <a:lstStyle/>
          <a:p>
            <a:pPr algn="l" indent="0" marL="0">
              <a:lnSpc>
                <a:spcPts val="1960"/>
              </a:lnSpc>
              <a:buNone/>
            </a:pPr>
            <a:r>
              <a:rPr lang="en-US" sz="1400" dirty="0">
                <a:solidFill>
                  <a:srgbClr val="D7F5DD"/>
                </a:solidFill>
                <a:latin typeface="IBM Plex Sans" pitchFamily="34" charset="0"/>
                <a:ea typeface="IBM Plex Sans" pitchFamily="34" charset="-122"/>
                <a:cs typeface="IBM Plex Sans" pitchFamily="34" charset="-120"/>
              </a:rPr>
              <a:t>Part 2 starts a new repo for the build, with a living copy of this architecture that records every change the build makes to it.</a:t>
            </a:r>
            <a:endParaRPr lang="en-US" sz="1400" dirty="0"/>
          </a:p>
        </p:txBody>
      </p:sp>
      <p:sp>
        <p:nvSpPr>
          <p:cNvPr id="19" name="Text 17"/>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1 · architecture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Levio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1: Architecture</dc:title>
  <dc:subject>PptxGenJS Presentation</dc:subject>
  <dc:creator>PptxGenJS</dc:creator>
  <cp:lastModifiedBy>PptxGenJS</cp:lastModifiedBy>
  <cp:revision>1</cp:revision>
  <dcterms:created xsi:type="dcterms:W3CDTF">2026-10-29T18:55:34Z</dcterms:created>
  <dcterms:modified xsi:type="dcterms:W3CDTF">2026-10-29T18:55:34Z</dcterms:modified>
</cp:coreProperties>
</file>